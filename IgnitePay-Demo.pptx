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</p:sldIdLst>
  <p:notesMasterIdLst>
    <p:notesMasterId r:id="rId17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notesMaster" Target="notesMasters/notesMaster1.xml"/><Relationship Id="rId18" Type="http://schemas.openxmlformats.org/officeDocument/2006/relationships/presProps" Target="presProps.xml"/><Relationship Id="rId19" Type="http://schemas.openxmlformats.org/officeDocument/2006/relationships/viewProps" Target="viewProps.xml"/><Relationship Id="rId20" Type="http://schemas.openxmlformats.org/officeDocument/2006/relationships/theme" Target="theme/theme1.xml"/><Relationship Id="rId2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image" Target="../media/image-2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image" Target="../media/image-14-2.png"/><Relationship Id="rId3" Type="http://schemas.openxmlformats.org/officeDocument/2006/relationships/image" Target="../media/image-14-3.png"/><Relationship Id="rId4" Type="http://schemas.openxmlformats.org/officeDocument/2006/relationships/image" Target="../media/image-14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B0D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943600" y="-1371600"/>
            <a:ext cx="4572000" cy="4572000"/>
          </a:xfrm>
          <a:prstGeom prst="ellipse">
            <a:avLst/>
          </a:prstGeom>
          <a:solidFill>
            <a:srgbClr val="9945FF">
              <a:alpha val="15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-914400" y="2743200"/>
            <a:ext cx="3657600" cy="3657600"/>
          </a:xfrm>
          <a:prstGeom prst="ellipse">
            <a:avLst/>
          </a:prstGeom>
          <a:solidFill>
            <a:srgbClr val="14F195">
              <a:alpha val="10000"/>
            </a:srgbClr>
          </a:solidFill>
          <a:ln/>
        </p:spPr>
      </p:sp>
      <p:sp>
        <p:nvSpPr>
          <p:cNvPr id="4" name="Text 2"/>
          <p:cNvSpPr/>
          <p:nvPr/>
        </p:nvSpPr>
        <p:spPr>
          <a:xfrm>
            <a:off x="731520" y="109728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spc="400" kern="0" dirty="0">
                <a:solidFill>
                  <a:srgbClr val="14F19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AGENT ECONOMY PAYMENT INFRASTRUCTURE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76809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2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Ignite Pay</a:t>
            </a:r>
            <a:endParaRPr lang="en-US" sz="5200" dirty="0"/>
          </a:p>
        </p:txBody>
      </p:sp>
      <p:sp>
        <p:nvSpPr>
          <p:cNvPr id="6" name="Text 4"/>
          <p:cNvSpPr/>
          <p:nvPr/>
        </p:nvSpPr>
        <p:spPr>
          <a:xfrm>
            <a:off x="731520" y="2834640"/>
            <a:ext cx="64008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50000"/>
              </a:lnSpc>
              <a:buNone/>
            </a:pPr>
            <a:r>
              <a:rPr lang="en-US" sz="1800" b="1" dirty="0">
                <a:solidFill>
                  <a:srgbClr val="14F1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Agent </a:t>
            </a:r>
            <a:pPr indent="0" marL="0">
              <a:lnSpc>
                <a:spcPct val="150000"/>
              </a:lnSpc>
              <a:buNone/>
            </a:pPr>
            <a:r>
              <a:rPr lang="en-US" sz="1800" dirty="0">
                <a:solidFill>
                  <a:srgbClr val="C4C4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遇到付费墙，自动发起支付
</a:t>
            </a:r>
            <a:pPr indent="0" marL="0">
              <a:lnSpc>
                <a:spcPct val="150000"/>
              </a:lnSpc>
              <a:buNone/>
            </a:pPr>
            <a:r>
              <a:rPr lang="en-US" sz="1800" b="1" dirty="0">
                <a:solidFill>
                  <a:srgbClr val="D4A0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用户 </a:t>
            </a:r>
            <a:pPr indent="0" marL="0">
              <a:lnSpc>
                <a:spcPct val="150000"/>
              </a:lnSpc>
              <a:buNone/>
            </a:pPr>
            <a:r>
              <a:rPr lang="en-US" sz="1800" dirty="0">
                <a:solidFill>
                  <a:srgbClr val="C4C4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在手机上滑动确认，</a:t>
            </a:r>
            <a:pPr indent="0" marL="0">
              <a:lnSpc>
                <a:spcPct val="150000"/>
              </a:lnSpc>
              <a:buNone/>
            </a:pPr>
            <a:r>
              <a:rPr lang="en-US" sz="1800" b="1" dirty="0">
                <a:solidFill>
                  <a:srgbClr val="14F1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Solana </a:t>
            </a:r>
            <a:pPr indent="0" marL="0">
              <a:lnSpc>
                <a:spcPct val="150000"/>
              </a:lnSpc>
              <a:buNone/>
            </a:pPr>
            <a:r>
              <a:rPr lang="en-US" sz="1800" dirty="0">
                <a:solidFill>
                  <a:srgbClr val="C4C4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链上结算</a:t>
            </a:r>
            <a:endParaRPr lang="en-US" sz="1800" dirty="0"/>
          </a:p>
        </p:txBody>
      </p:sp>
      <p:sp>
        <p:nvSpPr>
          <p:cNvPr id="7" name="Shape 5"/>
          <p:cNvSpPr/>
          <p:nvPr/>
        </p:nvSpPr>
        <p:spPr>
          <a:xfrm>
            <a:off x="731520" y="4206240"/>
            <a:ext cx="1554480" cy="320040"/>
          </a:xfrm>
          <a:prstGeom prst="rect">
            <a:avLst>
              <a:gd name="adj" fmla="val 14286"/>
            </a:avLst>
          </a:prstGeom>
          <a:solidFill>
            <a:srgbClr val="151829"/>
          </a:solidFill>
          <a:ln w="12700">
            <a:solidFill>
              <a:srgbClr val="9945FF">
                <a:alpha val="50000"/>
              </a:srgbClr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31520" y="4206240"/>
            <a:ext cx="1554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D4A0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x402 Protocol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2468880" y="4206240"/>
            <a:ext cx="1554480" cy="320040"/>
          </a:xfrm>
          <a:prstGeom prst="rect">
            <a:avLst>
              <a:gd name="adj" fmla="val 14286"/>
            </a:avLst>
          </a:prstGeom>
          <a:solidFill>
            <a:srgbClr val="151829"/>
          </a:solidFill>
          <a:ln w="12700">
            <a:solidFill>
              <a:srgbClr val="9945FF">
                <a:alpha val="50000"/>
              </a:srgbClr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2468880" y="4206240"/>
            <a:ext cx="1554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D4A0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Solana</a:t>
            </a:r>
            <a:endParaRPr lang="en-US" sz="900" dirty="0"/>
          </a:p>
        </p:txBody>
      </p:sp>
      <p:sp>
        <p:nvSpPr>
          <p:cNvPr id="11" name="Shape 9"/>
          <p:cNvSpPr/>
          <p:nvPr/>
        </p:nvSpPr>
        <p:spPr>
          <a:xfrm>
            <a:off x="4206240" y="4206240"/>
            <a:ext cx="1554480" cy="320040"/>
          </a:xfrm>
          <a:prstGeom prst="rect">
            <a:avLst>
              <a:gd name="adj" fmla="val 14286"/>
            </a:avLst>
          </a:prstGeom>
          <a:solidFill>
            <a:srgbClr val="151829"/>
          </a:solidFill>
          <a:ln w="12700">
            <a:solidFill>
              <a:srgbClr val="9945FF">
                <a:alpha val="50000"/>
              </a:srgbClr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4206240" y="4206240"/>
            <a:ext cx="1554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D4A0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DIDComm v2</a:t>
            </a:r>
            <a:endParaRPr lang="en-US" sz="900" dirty="0"/>
          </a:p>
        </p:txBody>
      </p:sp>
      <p:sp>
        <p:nvSpPr>
          <p:cNvPr id="13" name="Shape 11"/>
          <p:cNvSpPr/>
          <p:nvPr/>
        </p:nvSpPr>
        <p:spPr>
          <a:xfrm>
            <a:off x="5943600" y="4206240"/>
            <a:ext cx="1554480" cy="320040"/>
          </a:xfrm>
          <a:prstGeom prst="rect">
            <a:avLst>
              <a:gd name="adj" fmla="val 14286"/>
            </a:avLst>
          </a:prstGeom>
          <a:solidFill>
            <a:srgbClr val="151829"/>
          </a:solidFill>
          <a:ln w="12700">
            <a:solidFill>
              <a:srgbClr val="9945FF">
                <a:alpha val="50000"/>
              </a:srgbClr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943600" y="4206240"/>
            <a:ext cx="1554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D4A0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 Rust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B0D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36576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spc="400" kern="0" dirty="0">
                <a:solidFill>
                  <a:srgbClr val="EF444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PROBLEM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731520" y="731520"/>
            <a:ext cx="76809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AI Agent 需要付费，但谁来授权？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731520" y="1828800"/>
            <a:ext cx="1874520" cy="2743200"/>
          </a:xfrm>
          <a:prstGeom prst="rect">
            <a:avLst/>
          </a:prstGeom>
          <a:solidFill>
            <a:srgbClr val="151829"/>
          </a:solidFill>
          <a:ln/>
          <a:effectLst>
            <a:outerShdw sx="100000" sy="100000" kx="0" ky="0" algn="bl" rotWithShape="0" blurRad="101600" dist="38100" dir="8100000">
              <a:srgbClr val="000000">
                <a:alpha val="30000"/>
              </a:srgbClr>
            </a:outerShdw>
          </a:effectLst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0" y="2057400"/>
            <a:ext cx="411480" cy="41148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914400" y="2606040"/>
            <a:ext cx="1508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Agent 自主性</a:t>
            </a:r>
            <a:endParaRPr lang="en-US" sz="1300" dirty="0"/>
          </a:p>
        </p:txBody>
      </p:sp>
      <p:sp>
        <p:nvSpPr>
          <p:cNvPr id="7" name="Text 4"/>
          <p:cNvSpPr/>
          <p:nvPr/>
        </p:nvSpPr>
        <p:spPr>
          <a:xfrm>
            <a:off x="914400" y="3017520"/>
            <a:ext cx="150876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8888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Agent 执行任务时需要访问付费 API、数据源、算力资源，但无法自行判断是否该付这笔钱</a:t>
            </a:r>
            <a:endParaRPr lang="en-US" sz="1000" dirty="0"/>
          </a:p>
        </p:txBody>
      </p:sp>
      <p:sp>
        <p:nvSpPr>
          <p:cNvPr id="8" name="Shape 5"/>
          <p:cNvSpPr/>
          <p:nvPr/>
        </p:nvSpPr>
        <p:spPr>
          <a:xfrm>
            <a:off x="2788920" y="1828800"/>
            <a:ext cx="1874520" cy="2743200"/>
          </a:xfrm>
          <a:prstGeom prst="rect">
            <a:avLst/>
          </a:prstGeom>
          <a:solidFill>
            <a:srgbClr val="151829"/>
          </a:solidFill>
          <a:ln/>
          <a:effectLst>
            <a:outerShdw sx="100000" sy="100000" kx="0" ky="0" algn="bl" rotWithShape="0" blurRad="101600" dist="38100" dir="8100000">
              <a:srgbClr val="000000">
                <a:alpha val="30000"/>
              </a:srgbClr>
            </a:outerShdw>
          </a:effectLst>
        </p:spPr>
      </p:sp>
      <p:pic>
        <p:nvPicPr>
          <p:cNvPr id="9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971800" y="2057400"/>
            <a:ext cx="411480" cy="411480"/>
          </a:xfrm>
          <a:prstGeom prst="rect">
            <a:avLst/>
          </a:prstGeom>
        </p:spPr>
      </p:pic>
      <p:sp>
        <p:nvSpPr>
          <p:cNvPr id="10" name="Text 6"/>
          <p:cNvSpPr/>
          <p:nvPr/>
        </p:nvSpPr>
        <p:spPr>
          <a:xfrm>
            <a:off x="2971800" y="2606040"/>
            <a:ext cx="1508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安全风险</a:t>
            </a:r>
            <a:endParaRPr lang="en-US" sz="1300" dirty="0"/>
          </a:p>
        </p:txBody>
      </p:sp>
      <p:sp>
        <p:nvSpPr>
          <p:cNvPr id="11" name="Text 7"/>
          <p:cNvSpPr/>
          <p:nvPr/>
        </p:nvSpPr>
        <p:spPr>
          <a:xfrm>
            <a:off x="2971800" y="3017520"/>
            <a:ext cx="150876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8888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完全自动化支付 = 私钥暴露给 Agent，一旦 Agent 被劫持，资金安全无保障</a:t>
            </a:r>
            <a:endParaRPr lang="en-US" sz="1000" dirty="0"/>
          </a:p>
        </p:txBody>
      </p:sp>
      <p:sp>
        <p:nvSpPr>
          <p:cNvPr id="12" name="Shape 8"/>
          <p:cNvSpPr/>
          <p:nvPr/>
        </p:nvSpPr>
        <p:spPr>
          <a:xfrm>
            <a:off x="4846320" y="1828800"/>
            <a:ext cx="1874520" cy="2743200"/>
          </a:xfrm>
          <a:prstGeom prst="rect">
            <a:avLst/>
          </a:prstGeom>
          <a:solidFill>
            <a:srgbClr val="151829"/>
          </a:solidFill>
          <a:ln/>
          <a:effectLst>
            <a:outerShdw sx="100000" sy="100000" kx="0" ky="0" algn="bl" rotWithShape="0" blurRad="101600" dist="38100" dir="8100000">
              <a:srgbClr val="000000">
                <a:alpha val="30000"/>
              </a:srgbClr>
            </a:outerShdw>
          </a:effectLst>
        </p:spPr>
      </p:sp>
      <p:pic>
        <p:nvPicPr>
          <p:cNvPr id="13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29200" y="2057400"/>
            <a:ext cx="411480" cy="411480"/>
          </a:xfrm>
          <a:prstGeom prst="rect">
            <a:avLst/>
          </a:prstGeom>
        </p:spPr>
      </p:pic>
      <p:sp>
        <p:nvSpPr>
          <p:cNvPr id="14" name="Text 9"/>
          <p:cNvSpPr/>
          <p:nvPr/>
        </p:nvSpPr>
        <p:spPr>
          <a:xfrm>
            <a:off x="5029200" y="2606040"/>
            <a:ext cx="1508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隐私挑战</a:t>
            </a:r>
            <a:endParaRPr lang="en-US" sz="1300" dirty="0"/>
          </a:p>
        </p:txBody>
      </p:sp>
      <p:sp>
        <p:nvSpPr>
          <p:cNvPr id="15" name="Text 10"/>
          <p:cNvSpPr/>
          <p:nvPr/>
        </p:nvSpPr>
        <p:spPr>
          <a:xfrm>
            <a:off x="5029200" y="3017520"/>
            <a:ext cx="150876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8888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 与用户之间的通信需要端到端加密，中继服务器不应读取支付指令</a:t>
            </a:r>
            <a:endParaRPr lang="en-US" sz="1000" dirty="0"/>
          </a:p>
        </p:txBody>
      </p:sp>
      <p:sp>
        <p:nvSpPr>
          <p:cNvPr id="16" name="Shape 11"/>
          <p:cNvSpPr/>
          <p:nvPr/>
        </p:nvSpPr>
        <p:spPr>
          <a:xfrm>
            <a:off x="6903720" y="1828800"/>
            <a:ext cx="1874520" cy="2743200"/>
          </a:xfrm>
          <a:prstGeom prst="rect">
            <a:avLst/>
          </a:prstGeom>
          <a:solidFill>
            <a:srgbClr val="151829"/>
          </a:solidFill>
          <a:ln/>
          <a:effectLst>
            <a:outerShdw sx="100000" sy="100000" kx="0" ky="0" algn="bl" rotWithShape="0" blurRad="101600" dist="38100" dir="8100000">
              <a:srgbClr val="000000">
                <a:alpha val="30000"/>
              </a:srgbClr>
            </a:outerShdw>
          </a:effectLst>
        </p:spPr>
      </p:sp>
      <p:pic>
        <p:nvPicPr>
          <p:cNvPr id="17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086600" y="2057400"/>
            <a:ext cx="411480" cy="411480"/>
          </a:xfrm>
          <a:prstGeom prst="rect">
            <a:avLst/>
          </a:prstGeom>
        </p:spPr>
      </p:pic>
      <p:sp>
        <p:nvSpPr>
          <p:cNvPr id="18" name="Text 12"/>
          <p:cNvSpPr/>
          <p:nvPr/>
        </p:nvSpPr>
        <p:spPr>
          <a:xfrm>
            <a:off x="7086600" y="2606040"/>
            <a:ext cx="1508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效率要求</a:t>
            </a:r>
            <a:endParaRPr lang="en-US" sz="1300" dirty="0"/>
          </a:p>
        </p:txBody>
      </p:sp>
      <p:sp>
        <p:nvSpPr>
          <p:cNvPr id="19" name="Text 13"/>
          <p:cNvSpPr/>
          <p:nvPr/>
        </p:nvSpPr>
        <p:spPr>
          <a:xfrm>
            <a:off x="7086600" y="3017520"/>
            <a:ext cx="150876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8888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高频微支付场景（API 调用、内容付费）需要亚秒级延迟和零 Gas 成本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B0D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36576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spc="400" kern="0" dirty="0">
                <a:solidFill>
                  <a:srgbClr val="F59E0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MARKET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731520" y="731520"/>
            <a:ext cx="76809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M2M 支付：下一个万亿级市场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457200" y="1645920"/>
            <a:ext cx="2606040" cy="2194560"/>
          </a:xfrm>
          <a:prstGeom prst="rect">
            <a:avLst/>
          </a:prstGeom>
          <a:solidFill>
            <a:srgbClr val="151829"/>
          </a:solidFill>
          <a:ln/>
          <a:effectLst>
            <a:outerShdw sx="100000" sy="100000" kx="0" ky="0" algn="bl" rotWithShape="0" blurRad="101600" dist="38100" dir="8100000">
              <a:srgbClr val="000000">
                <a:alpha val="3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457200" y="1645920"/>
            <a:ext cx="2606040" cy="45720"/>
          </a:xfrm>
          <a:prstGeom prst="rect">
            <a:avLst/>
          </a:prstGeom>
          <a:solidFill>
            <a:srgbClr val="14F195"/>
          </a:solidFill>
          <a:ln/>
        </p:spPr>
      </p:sp>
      <p:sp>
        <p:nvSpPr>
          <p:cNvPr id="6" name="Text 4"/>
          <p:cNvSpPr/>
          <p:nvPr/>
        </p:nvSpPr>
        <p:spPr>
          <a:xfrm>
            <a:off x="640080" y="1828800"/>
            <a:ext cx="2240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14F195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33%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640080" y="2377440"/>
            <a:ext cx="2240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Agent 交互占比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40080" y="2743200"/>
            <a:ext cx="22402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8888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2028 年 33% 软件</a:t>
            </a:r>
            <a:endParaRPr lang="en-US" sz="100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8888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交互由 AI Agent 完成</a:t>
            </a:r>
            <a:endParaRPr lang="en-US" sz="100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8888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每次调用 = M2M 支付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3291840" y="1645920"/>
            <a:ext cx="2606040" cy="2194560"/>
          </a:xfrm>
          <a:prstGeom prst="rect">
            <a:avLst/>
          </a:prstGeom>
          <a:solidFill>
            <a:srgbClr val="151829"/>
          </a:solidFill>
          <a:ln/>
          <a:effectLst>
            <a:outerShdw sx="100000" sy="100000" kx="0" ky="0" algn="bl" rotWithShape="0" blurRad="101600" dist="38100" dir="8100000">
              <a:srgbClr val="000000">
                <a:alpha val="30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3291840" y="1645920"/>
            <a:ext cx="2606040" cy="45720"/>
          </a:xfrm>
          <a:prstGeom prst="rect">
            <a:avLst/>
          </a:prstGeom>
          <a:solidFill>
            <a:srgbClr val="9945FF"/>
          </a:solidFill>
          <a:ln/>
        </p:spPr>
      </p:sp>
      <p:sp>
        <p:nvSpPr>
          <p:cNvPr id="11" name="Text 9"/>
          <p:cNvSpPr/>
          <p:nvPr/>
        </p:nvSpPr>
        <p:spPr>
          <a:xfrm>
            <a:off x="3474720" y="1828800"/>
            <a:ext cx="2240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9945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290 亿</a:t>
            </a:r>
            <a:endParaRPr lang="en-US" sz="2800" dirty="0"/>
          </a:p>
        </p:txBody>
      </p:sp>
      <p:sp>
        <p:nvSpPr>
          <p:cNvPr id="12" name="Text 10"/>
          <p:cNvSpPr/>
          <p:nvPr/>
        </p:nvSpPr>
        <p:spPr>
          <a:xfrm>
            <a:off x="3474720" y="2377440"/>
            <a:ext cx="2240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IoT 设备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3474720" y="2743200"/>
            <a:ext cx="22402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8888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2030 年全球 IoT 设备</a:t>
            </a:r>
            <a:endParaRPr lang="en-US" sz="100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8888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充电桩 / 带宽 / 数据</a:t>
            </a:r>
            <a:endParaRPr lang="en-US" sz="100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8888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设备间自主结算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6126480" y="1645920"/>
            <a:ext cx="2606040" cy="2194560"/>
          </a:xfrm>
          <a:prstGeom prst="rect">
            <a:avLst/>
          </a:prstGeom>
          <a:solidFill>
            <a:srgbClr val="151829"/>
          </a:solidFill>
          <a:ln/>
          <a:effectLst>
            <a:outerShdw sx="100000" sy="100000" kx="0" ky="0" algn="bl" rotWithShape="0" blurRad="101600" dist="38100" dir="8100000">
              <a:srgbClr val="000000">
                <a:alpha val="30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6126480" y="1645920"/>
            <a:ext cx="2606040" cy="45720"/>
          </a:xfrm>
          <a:prstGeom prst="rect">
            <a:avLst/>
          </a:prstGeom>
          <a:solidFill>
            <a:srgbClr val="F59E0B"/>
          </a:solidFill>
          <a:ln/>
        </p:spPr>
      </p:sp>
      <p:sp>
        <p:nvSpPr>
          <p:cNvPr id="16" name="Text 14"/>
          <p:cNvSpPr/>
          <p:nvPr/>
        </p:nvSpPr>
        <p:spPr>
          <a:xfrm>
            <a:off x="6309360" y="1828800"/>
            <a:ext cx="2240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F59E0B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$4000 亿</a:t>
            </a:r>
            <a:endParaRPr lang="en-US" sz="2800" dirty="0"/>
          </a:p>
        </p:txBody>
      </p:sp>
      <p:sp>
        <p:nvSpPr>
          <p:cNvPr id="17" name="Text 15"/>
          <p:cNvSpPr/>
          <p:nvPr/>
        </p:nvSpPr>
        <p:spPr>
          <a:xfrm>
            <a:off x="6309360" y="2377440"/>
            <a:ext cx="2240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API 市场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6309360" y="2743200"/>
            <a:ext cx="22402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8888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全球 API 市场 2030</a:t>
            </a:r>
            <a:endParaRPr lang="en-US" sz="100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8888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按调用计费 = 最大</a:t>
            </a:r>
            <a:endParaRPr lang="en-US" sz="100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8888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M2M 支付场景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457200" y="4114800"/>
            <a:ext cx="8229600" cy="822960"/>
          </a:xfrm>
          <a:prstGeom prst="rect">
            <a:avLst/>
          </a:prstGeom>
          <a:solidFill>
            <a:srgbClr val="151829"/>
          </a:solidFill>
          <a:ln/>
        </p:spPr>
      </p:sp>
      <p:sp>
        <p:nvSpPr>
          <p:cNvPr id="20" name="Text 18"/>
          <p:cNvSpPr/>
          <p:nvPr/>
        </p:nvSpPr>
        <p:spPr>
          <a:xfrm>
            <a:off x="731520" y="4160520"/>
            <a:ext cx="76809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b="1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核心洞察：</a:t>
            </a:r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C4C4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现有支付基础设施（信用卡、链上钱包）全部为「人主动发起」设计</a:t>
            </a:r>
            <a:pPr indent="0" marL="0">
              <a:lnSpc>
                <a:spcPct val="140000"/>
              </a:lnSpc>
              <a:buNone/>
            </a:pPr>
            <a:endParaRPr lang="en-US" sz="110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谁先解决 M2M 支付的信任和授权问题 → 谁占据 Agent 经济的基础设施层</a:t>
            </a:r>
            <a:endParaRPr lang="en-US" sz="11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B0D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36576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spc="400" kern="0" dirty="0">
                <a:solidFill>
                  <a:srgbClr val="14F19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SOLUTION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731520" y="731520"/>
            <a:ext cx="76809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Agent 遇到付费墙 → MCP 编排 → 手机授权 → 链上支付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960120" y="1737360"/>
            <a:ext cx="640080" cy="640080"/>
          </a:xfrm>
          <a:prstGeom prst="ellipse">
            <a:avLst/>
          </a:prstGeom>
          <a:solidFill>
            <a:srgbClr val="6366F1"/>
          </a:solidFill>
          <a:ln/>
        </p:spPr>
      </p:sp>
      <p:sp>
        <p:nvSpPr>
          <p:cNvPr id="5" name="Text 3"/>
          <p:cNvSpPr/>
          <p:nvPr/>
        </p:nvSpPr>
        <p:spPr>
          <a:xfrm>
            <a:off x="960120" y="173736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1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1645920" y="1783080"/>
            <a:ext cx="457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dirty="0">
                <a:solidFill>
                  <a:srgbClr val="55556A"/>
                </a:solidFill>
              </a:rPr>
              <a:t>→</a:t>
            </a:r>
            <a:endParaRPr lang="en-US" sz="2400" dirty="0"/>
          </a:p>
        </p:txBody>
      </p:sp>
      <p:sp>
        <p:nvSpPr>
          <p:cNvPr id="7" name="Text 5"/>
          <p:cNvSpPr/>
          <p:nvPr/>
        </p:nvSpPr>
        <p:spPr>
          <a:xfrm>
            <a:off x="502920" y="2514600"/>
            <a:ext cx="1554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Agent 请求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502920" y="2834640"/>
            <a:ext cx="1554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30000"/>
              </a:lnSpc>
              <a:buNone/>
            </a:pPr>
            <a:r>
              <a:rPr lang="en-US" sz="900" dirty="0">
                <a:solidFill>
                  <a:srgbClr val="8888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外部服务返回</a:t>
            </a:r>
            <a:endParaRPr lang="en-US" sz="900" dirty="0"/>
          </a:p>
          <a:p>
            <a:pPr algn="ctr" indent="0" marL="0">
              <a:lnSpc>
                <a:spcPct val="130000"/>
              </a:lnSpc>
              <a:buNone/>
            </a:pPr>
            <a:r>
              <a:rPr lang="en-US" sz="900" dirty="0">
                <a:solidFill>
                  <a:srgbClr val="8888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HTTP 402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2697480" y="1737360"/>
            <a:ext cx="640080" cy="640080"/>
          </a:xfrm>
          <a:prstGeom prst="ellipse">
            <a:avLst/>
          </a:prstGeom>
          <a:solidFill>
            <a:srgbClr val="9945FF"/>
          </a:solidFill>
          <a:ln/>
        </p:spPr>
      </p:sp>
      <p:sp>
        <p:nvSpPr>
          <p:cNvPr id="10" name="Text 8"/>
          <p:cNvSpPr/>
          <p:nvPr/>
        </p:nvSpPr>
        <p:spPr>
          <a:xfrm>
            <a:off x="2697480" y="173736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2</a:t>
            </a:r>
            <a:endParaRPr lang="en-US" sz="2200" dirty="0"/>
          </a:p>
        </p:txBody>
      </p:sp>
      <p:sp>
        <p:nvSpPr>
          <p:cNvPr id="11" name="Text 9"/>
          <p:cNvSpPr/>
          <p:nvPr/>
        </p:nvSpPr>
        <p:spPr>
          <a:xfrm>
            <a:off x="3383280" y="1783080"/>
            <a:ext cx="457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dirty="0">
                <a:solidFill>
                  <a:srgbClr val="55556A"/>
                </a:solidFill>
              </a:rPr>
              <a:t>→</a:t>
            </a:r>
            <a:endParaRPr lang="en-US" sz="2400" dirty="0"/>
          </a:p>
        </p:txBody>
      </p:sp>
      <p:sp>
        <p:nvSpPr>
          <p:cNvPr id="12" name="Text 10"/>
          <p:cNvSpPr/>
          <p:nvPr/>
        </p:nvSpPr>
        <p:spPr>
          <a:xfrm>
            <a:off x="2240280" y="2514600"/>
            <a:ext cx="1554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MCP 处理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2240280" y="2834640"/>
            <a:ext cx="1554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30000"/>
              </a:lnSpc>
              <a:buNone/>
            </a:pPr>
            <a:r>
              <a:rPr lang="en-US" sz="900" dirty="0">
                <a:solidFill>
                  <a:srgbClr val="8888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解析 x402 挑战</a:t>
            </a:r>
            <a:endParaRPr lang="en-US" sz="900" dirty="0"/>
          </a:p>
          <a:p>
            <a:pPr algn="ctr" indent="0" marL="0">
              <a:lnSpc>
                <a:spcPct val="130000"/>
              </a:lnSpc>
              <a:buNone/>
            </a:pPr>
            <a:r>
              <a:rPr lang="en-US" sz="900" dirty="0">
                <a:solidFill>
                  <a:srgbClr val="8888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风控决策</a:t>
            </a:r>
            <a:endParaRPr lang="en-US" sz="900" dirty="0"/>
          </a:p>
        </p:txBody>
      </p:sp>
      <p:sp>
        <p:nvSpPr>
          <p:cNvPr id="14" name="Shape 12"/>
          <p:cNvSpPr/>
          <p:nvPr/>
        </p:nvSpPr>
        <p:spPr>
          <a:xfrm>
            <a:off x="4434840" y="1737360"/>
            <a:ext cx="640080" cy="640080"/>
          </a:xfrm>
          <a:prstGeom prst="ellipse">
            <a:avLst/>
          </a:prstGeom>
          <a:solidFill>
            <a:srgbClr val="14F195"/>
          </a:solidFill>
          <a:ln/>
        </p:spPr>
      </p:sp>
      <p:sp>
        <p:nvSpPr>
          <p:cNvPr id="15" name="Text 13"/>
          <p:cNvSpPr/>
          <p:nvPr/>
        </p:nvSpPr>
        <p:spPr>
          <a:xfrm>
            <a:off x="4434840" y="173736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3</a:t>
            </a:r>
            <a:endParaRPr lang="en-US" sz="2200" dirty="0"/>
          </a:p>
        </p:txBody>
      </p:sp>
      <p:sp>
        <p:nvSpPr>
          <p:cNvPr id="16" name="Text 14"/>
          <p:cNvSpPr/>
          <p:nvPr/>
        </p:nvSpPr>
        <p:spPr>
          <a:xfrm>
            <a:off x="5120640" y="1783080"/>
            <a:ext cx="457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dirty="0">
                <a:solidFill>
                  <a:srgbClr val="55556A"/>
                </a:solidFill>
              </a:rPr>
              <a:t>→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3977640" y="2514600"/>
            <a:ext cx="1554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手机授权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3977640" y="2834640"/>
            <a:ext cx="1554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30000"/>
              </a:lnSpc>
              <a:buNone/>
            </a:pPr>
            <a:r>
              <a:rPr lang="en-US" sz="900" dirty="0">
                <a:solidFill>
                  <a:srgbClr val="8888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DIDComm 加密</a:t>
            </a:r>
            <a:endParaRPr lang="en-US" sz="900" dirty="0"/>
          </a:p>
          <a:p>
            <a:pPr algn="ctr" indent="0" marL="0">
              <a:lnSpc>
                <a:spcPct val="130000"/>
              </a:lnSpc>
              <a:buNone/>
            </a:pPr>
            <a:r>
              <a:rPr lang="en-US" sz="900" dirty="0">
                <a:solidFill>
                  <a:srgbClr val="8888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滑动确认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6172200" y="1737360"/>
            <a:ext cx="640080" cy="640080"/>
          </a:xfrm>
          <a:prstGeom prst="ellipse">
            <a:avLst/>
          </a:prstGeom>
          <a:solidFill>
            <a:srgbClr val="F59E0B"/>
          </a:solidFill>
          <a:ln/>
        </p:spPr>
      </p:sp>
      <p:sp>
        <p:nvSpPr>
          <p:cNvPr id="20" name="Text 18"/>
          <p:cNvSpPr/>
          <p:nvPr/>
        </p:nvSpPr>
        <p:spPr>
          <a:xfrm>
            <a:off x="6172200" y="173736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4</a:t>
            </a:r>
            <a:endParaRPr lang="en-US" sz="2200" dirty="0"/>
          </a:p>
        </p:txBody>
      </p:sp>
      <p:sp>
        <p:nvSpPr>
          <p:cNvPr id="21" name="Text 19"/>
          <p:cNvSpPr/>
          <p:nvPr/>
        </p:nvSpPr>
        <p:spPr>
          <a:xfrm>
            <a:off x="6858000" y="1783080"/>
            <a:ext cx="457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dirty="0">
                <a:solidFill>
                  <a:srgbClr val="55556A"/>
                </a:solidFill>
              </a:rPr>
              <a:t>→</a:t>
            </a:r>
            <a:endParaRPr lang="en-US" sz="2400" dirty="0"/>
          </a:p>
        </p:txBody>
      </p:sp>
      <p:sp>
        <p:nvSpPr>
          <p:cNvPr id="22" name="Text 20"/>
          <p:cNvSpPr/>
          <p:nvPr/>
        </p:nvSpPr>
        <p:spPr>
          <a:xfrm>
            <a:off x="5715000" y="2514600"/>
            <a:ext cx="1554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链上支付</a:t>
            </a:r>
            <a:endParaRPr lang="en-US" sz="1200" dirty="0"/>
          </a:p>
        </p:txBody>
      </p:sp>
      <p:sp>
        <p:nvSpPr>
          <p:cNvPr id="23" name="Text 21"/>
          <p:cNvSpPr/>
          <p:nvPr/>
        </p:nvSpPr>
        <p:spPr>
          <a:xfrm>
            <a:off x="5715000" y="2834640"/>
            <a:ext cx="1554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30000"/>
              </a:lnSpc>
              <a:buNone/>
            </a:pPr>
            <a:r>
              <a:rPr lang="en-US" sz="900" dirty="0">
                <a:solidFill>
                  <a:srgbClr val="8888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Session Key /</a:t>
            </a:r>
            <a:endParaRPr lang="en-US" sz="900" dirty="0"/>
          </a:p>
          <a:p>
            <a:pPr algn="ctr" indent="0" marL="0">
              <a:lnSpc>
                <a:spcPct val="130000"/>
              </a:lnSpc>
              <a:buNone/>
            </a:pPr>
            <a:r>
              <a:rPr lang="en-US" sz="900" dirty="0">
                <a:solidFill>
                  <a:srgbClr val="8888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Relayer 代付</a:t>
            </a:r>
            <a:endParaRPr lang="en-US" sz="900" dirty="0"/>
          </a:p>
        </p:txBody>
      </p:sp>
      <p:sp>
        <p:nvSpPr>
          <p:cNvPr id="24" name="Shape 22"/>
          <p:cNvSpPr/>
          <p:nvPr/>
        </p:nvSpPr>
        <p:spPr>
          <a:xfrm>
            <a:off x="7909560" y="1737360"/>
            <a:ext cx="640080" cy="640080"/>
          </a:xfrm>
          <a:prstGeom prst="ellipse">
            <a:avLst/>
          </a:prstGeom>
          <a:solidFill>
            <a:srgbClr val="0D9B6A"/>
          </a:solidFill>
          <a:ln/>
        </p:spPr>
      </p:sp>
      <p:sp>
        <p:nvSpPr>
          <p:cNvPr id="25" name="Text 23"/>
          <p:cNvSpPr/>
          <p:nvPr/>
        </p:nvSpPr>
        <p:spPr>
          <a:xfrm>
            <a:off x="7909560" y="173736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5</a:t>
            </a:r>
            <a:endParaRPr lang="en-US" sz="2200" dirty="0"/>
          </a:p>
        </p:txBody>
      </p:sp>
      <p:sp>
        <p:nvSpPr>
          <p:cNvPr id="26" name="Text 24"/>
          <p:cNvSpPr/>
          <p:nvPr/>
        </p:nvSpPr>
        <p:spPr>
          <a:xfrm>
            <a:off x="7452360" y="2514600"/>
            <a:ext cx="1554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获取资源</a:t>
            </a:r>
            <a:endParaRPr lang="en-US" sz="1200" dirty="0"/>
          </a:p>
        </p:txBody>
      </p:sp>
      <p:sp>
        <p:nvSpPr>
          <p:cNvPr id="27" name="Text 25"/>
          <p:cNvSpPr/>
          <p:nvPr/>
        </p:nvSpPr>
        <p:spPr>
          <a:xfrm>
            <a:off x="7452360" y="2834640"/>
            <a:ext cx="1554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30000"/>
              </a:lnSpc>
              <a:buNone/>
            </a:pPr>
            <a:r>
              <a:rPr lang="en-US" sz="900" dirty="0">
                <a:solidFill>
                  <a:srgbClr val="8888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携带凭证重试</a:t>
            </a:r>
            <a:endParaRPr lang="en-US" sz="900" dirty="0"/>
          </a:p>
          <a:p>
            <a:pPr algn="ctr" indent="0" marL="0">
              <a:lnSpc>
                <a:spcPct val="130000"/>
              </a:lnSpc>
              <a:buNone/>
            </a:pPr>
            <a:r>
              <a:rPr lang="en-US" sz="900" dirty="0">
                <a:solidFill>
                  <a:srgbClr val="8888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HTTP 200</a:t>
            </a:r>
            <a:endParaRPr lang="en-US" sz="900" dirty="0"/>
          </a:p>
        </p:txBody>
      </p:sp>
      <p:sp>
        <p:nvSpPr>
          <p:cNvPr id="28" name="Shape 26"/>
          <p:cNvSpPr/>
          <p:nvPr/>
        </p:nvSpPr>
        <p:spPr>
          <a:xfrm>
            <a:off x="457200" y="3749040"/>
            <a:ext cx="8229600" cy="1005840"/>
          </a:xfrm>
          <a:prstGeom prst="rect">
            <a:avLst/>
          </a:prstGeom>
          <a:solidFill>
            <a:srgbClr val="151829"/>
          </a:solidFill>
          <a:ln/>
        </p:spPr>
      </p:sp>
      <p:sp>
        <p:nvSpPr>
          <p:cNvPr id="29" name="Text 27"/>
          <p:cNvSpPr/>
          <p:nvPr/>
        </p:nvSpPr>
        <p:spPr>
          <a:xfrm>
            <a:off x="640080" y="3840480"/>
            <a:ext cx="1828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4F19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端到端加密</a:t>
            </a:r>
            <a:endParaRPr lang="en-US" sz="1200" dirty="0"/>
          </a:p>
        </p:txBody>
      </p:sp>
      <p:sp>
        <p:nvSpPr>
          <p:cNvPr id="30" name="Text 28"/>
          <p:cNvSpPr/>
          <p:nvPr/>
        </p:nvSpPr>
        <p:spPr>
          <a:xfrm>
            <a:off x="640080" y="416052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888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DIDComm v2 JWE</a:t>
            </a:r>
            <a:endParaRPr lang="en-US" sz="900" dirty="0"/>
          </a:p>
        </p:txBody>
      </p:sp>
      <p:sp>
        <p:nvSpPr>
          <p:cNvPr id="31" name="Text 29"/>
          <p:cNvSpPr/>
          <p:nvPr/>
        </p:nvSpPr>
        <p:spPr>
          <a:xfrm>
            <a:off x="2651760" y="3840480"/>
            <a:ext cx="1828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4F19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多路径支付</a:t>
            </a:r>
            <a:endParaRPr lang="en-US" sz="1200" dirty="0"/>
          </a:p>
        </p:txBody>
      </p:sp>
      <p:sp>
        <p:nvSpPr>
          <p:cNvPr id="32" name="Text 30"/>
          <p:cNvSpPr/>
          <p:nvPr/>
        </p:nvSpPr>
        <p:spPr>
          <a:xfrm>
            <a:off x="2651760" y="416052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888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种支付方式自动选择</a:t>
            </a:r>
            <a:endParaRPr lang="en-US" sz="900" dirty="0"/>
          </a:p>
        </p:txBody>
      </p:sp>
      <p:sp>
        <p:nvSpPr>
          <p:cNvPr id="33" name="Text 31"/>
          <p:cNvSpPr/>
          <p:nvPr/>
        </p:nvSpPr>
        <p:spPr>
          <a:xfrm>
            <a:off x="4663440" y="3840480"/>
            <a:ext cx="1828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4F19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六层风控</a:t>
            </a:r>
            <a:endParaRPr lang="en-US" sz="1200" dirty="0"/>
          </a:p>
        </p:txBody>
      </p:sp>
      <p:sp>
        <p:nvSpPr>
          <p:cNvPr id="34" name="Text 32"/>
          <p:cNvSpPr/>
          <p:nvPr/>
        </p:nvSpPr>
        <p:spPr>
          <a:xfrm>
            <a:off x="4663440" y="416052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888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黑名单到白名单全覆盖</a:t>
            </a:r>
            <a:endParaRPr lang="en-US" sz="900" dirty="0"/>
          </a:p>
        </p:txBody>
      </p:sp>
      <p:sp>
        <p:nvSpPr>
          <p:cNvPr id="35" name="Text 33"/>
          <p:cNvSpPr/>
          <p:nvPr/>
        </p:nvSpPr>
        <p:spPr>
          <a:xfrm>
            <a:off x="6675120" y="3840480"/>
            <a:ext cx="1828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4F19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全 Rust 后端</a:t>
            </a:r>
            <a:endParaRPr lang="en-US" sz="1200" dirty="0"/>
          </a:p>
        </p:txBody>
      </p:sp>
      <p:sp>
        <p:nvSpPr>
          <p:cNvPr id="36" name="Text 34"/>
          <p:cNvSpPr/>
          <p:nvPr/>
        </p:nvSpPr>
        <p:spPr>
          <a:xfrm>
            <a:off x="6675120" y="416052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888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17+ crate 高性能架构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B0D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27432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spc="400" kern="0" dirty="0">
                <a:solidFill>
                  <a:srgbClr val="9945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ARCHITECTURE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731520" y="548640"/>
            <a:ext cx="7315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四层架构设计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457200" y="1371600"/>
            <a:ext cx="8229600" cy="594360"/>
          </a:xfrm>
          <a:prstGeom prst="rect">
            <a:avLst/>
          </a:prstGeom>
          <a:solidFill>
            <a:srgbClr val="151829"/>
          </a:solidFill>
          <a:ln/>
        </p:spPr>
      </p:sp>
      <p:sp>
        <p:nvSpPr>
          <p:cNvPr id="5" name="Shape 3"/>
          <p:cNvSpPr/>
          <p:nvPr/>
        </p:nvSpPr>
        <p:spPr>
          <a:xfrm>
            <a:off x="457200" y="1371600"/>
            <a:ext cx="73152" cy="594360"/>
          </a:xfrm>
          <a:prstGeom prst="rect">
            <a:avLst/>
          </a:prstGeom>
          <a:solidFill>
            <a:srgbClr val="14F195"/>
          </a:solidFill>
          <a:ln/>
        </p:spPr>
      </p:sp>
      <p:sp>
        <p:nvSpPr>
          <p:cNvPr id="6" name="Text 4"/>
          <p:cNvSpPr/>
          <p:nvPr/>
        </p:nvSpPr>
        <p:spPr>
          <a:xfrm>
            <a:off x="731520" y="1371600"/>
            <a:ext cx="22860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4F19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Application Layer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3017520" y="1371600"/>
            <a:ext cx="54864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C4C4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Agent  |  Buyer App  |  Merchant App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57200" y="2103120"/>
            <a:ext cx="8229600" cy="594360"/>
          </a:xfrm>
          <a:prstGeom prst="rect">
            <a:avLst/>
          </a:prstGeom>
          <a:solidFill>
            <a:srgbClr val="151829"/>
          </a:solidFill>
          <a:ln/>
        </p:spPr>
      </p:sp>
      <p:sp>
        <p:nvSpPr>
          <p:cNvPr id="9" name="Shape 7"/>
          <p:cNvSpPr/>
          <p:nvPr/>
        </p:nvSpPr>
        <p:spPr>
          <a:xfrm>
            <a:off x="457200" y="2103120"/>
            <a:ext cx="73152" cy="594360"/>
          </a:xfrm>
          <a:prstGeom prst="rect">
            <a:avLst/>
          </a:prstGeom>
          <a:solidFill>
            <a:srgbClr val="9945FF"/>
          </a:solidFill>
          <a:ln/>
        </p:spPr>
      </p:sp>
      <p:sp>
        <p:nvSpPr>
          <p:cNvPr id="10" name="Text 8"/>
          <p:cNvSpPr/>
          <p:nvPr/>
        </p:nvSpPr>
        <p:spPr>
          <a:xfrm>
            <a:off x="731520" y="2103120"/>
            <a:ext cx="22860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9945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Service Layer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3017520" y="2103120"/>
            <a:ext cx="54864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C4C4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Buyer MCP (23 Tools)  |  Merchant MCP (16 Tools)  |  Hub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457200" y="2834640"/>
            <a:ext cx="8229600" cy="594360"/>
          </a:xfrm>
          <a:prstGeom prst="rect">
            <a:avLst/>
          </a:prstGeom>
          <a:solidFill>
            <a:srgbClr val="151829"/>
          </a:solidFill>
          <a:ln/>
        </p:spPr>
      </p:sp>
      <p:sp>
        <p:nvSpPr>
          <p:cNvPr id="13" name="Shape 11"/>
          <p:cNvSpPr/>
          <p:nvPr/>
        </p:nvSpPr>
        <p:spPr>
          <a:xfrm>
            <a:off x="457200" y="2834640"/>
            <a:ext cx="73152" cy="594360"/>
          </a:xfrm>
          <a:prstGeom prst="rect">
            <a:avLst/>
          </a:prstGeom>
          <a:solidFill>
            <a:srgbClr val="6366F1"/>
          </a:solidFill>
          <a:ln/>
        </p:spPr>
      </p:sp>
      <p:sp>
        <p:nvSpPr>
          <p:cNvPr id="14" name="Text 12"/>
          <p:cNvSpPr/>
          <p:nvPr/>
        </p:nvSpPr>
        <p:spPr>
          <a:xfrm>
            <a:off x="731520" y="2834640"/>
            <a:ext cx="22860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6366F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Communication Layer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3017520" y="2834640"/>
            <a:ext cx="54864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C4C4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DIDComm v2 Mediator  |  JWE Authcrypt  |  Ed25519 + X25519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457200" y="3566160"/>
            <a:ext cx="8229600" cy="594360"/>
          </a:xfrm>
          <a:prstGeom prst="rect">
            <a:avLst/>
          </a:prstGeom>
          <a:solidFill>
            <a:srgbClr val="151829"/>
          </a:solidFill>
          <a:ln/>
        </p:spPr>
      </p:sp>
      <p:sp>
        <p:nvSpPr>
          <p:cNvPr id="17" name="Shape 15"/>
          <p:cNvSpPr/>
          <p:nvPr/>
        </p:nvSpPr>
        <p:spPr>
          <a:xfrm>
            <a:off x="457200" y="3566160"/>
            <a:ext cx="73152" cy="594360"/>
          </a:xfrm>
          <a:prstGeom prst="rect">
            <a:avLst/>
          </a:prstGeom>
          <a:solidFill>
            <a:srgbClr val="F59E0B"/>
          </a:solidFill>
          <a:ln/>
        </p:spPr>
      </p:sp>
      <p:sp>
        <p:nvSpPr>
          <p:cNvPr id="18" name="Text 16"/>
          <p:cNvSpPr/>
          <p:nvPr/>
        </p:nvSpPr>
        <p:spPr>
          <a:xfrm>
            <a:off x="731520" y="3566160"/>
            <a:ext cx="22860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59E0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On-chain Layer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3017520" y="3566160"/>
            <a:ext cx="54864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C4C4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Solana Settlement  |  DID Registry  |  Session Key Program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457200" y="4389120"/>
            <a:ext cx="3840480" cy="457200"/>
          </a:xfrm>
          <a:prstGeom prst="rect">
            <a:avLst/>
          </a:prstGeom>
          <a:solidFill>
            <a:srgbClr val="1C2039"/>
          </a:solidFill>
          <a:ln/>
        </p:spPr>
      </p:sp>
      <p:sp>
        <p:nvSpPr>
          <p:cNvPr id="21" name="Text 19"/>
          <p:cNvSpPr/>
          <p:nvPr/>
        </p:nvSpPr>
        <p:spPr>
          <a:xfrm>
            <a:off x="640080" y="4389120"/>
            <a:ext cx="3566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C4C4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MCP-First: JSON-RPC 2.0 工具协议，兼容 Claude / Cursor 等客户端</a:t>
            </a:r>
            <a:endParaRPr lang="en-US" sz="900" dirty="0"/>
          </a:p>
        </p:txBody>
      </p:sp>
      <p:sp>
        <p:nvSpPr>
          <p:cNvPr id="22" name="Shape 20"/>
          <p:cNvSpPr/>
          <p:nvPr/>
        </p:nvSpPr>
        <p:spPr>
          <a:xfrm>
            <a:off x="4846320" y="4389120"/>
            <a:ext cx="3840480" cy="457200"/>
          </a:xfrm>
          <a:prstGeom prst="rect">
            <a:avLst/>
          </a:prstGeom>
          <a:solidFill>
            <a:srgbClr val="1C2039"/>
          </a:solidFill>
          <a:ln/>
        </p:spPr>
      </p:sp>
      <p:sp>
        <p:nvSpPr>
          <p:cNvPr id="23" name="Text 21"/>
          <p:cNvSpPr/>
          <p:nvPr/>
        </p:nvSpPr>
        <p:spPr>
          <a:xfrm>
            <a:off x="5029200" y="4389120"/>
            <a:ext cx="3566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C4C4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Flutter + Rust Bridge 移动端，共享加密与业务逻辑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B0D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31520" y="320040"/>
            <a:ext cx="365760" cy="36576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1234440" y="320040"/>
            <a:ext cx="6400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Agent 自主支付 + 人类授权</a:t>
            </a:r>
            <a:endParaRPr lang="en-US" sz="2400" dirty="0"/>
          </a:p>
        </p:txBody>
      </p:sp>
      <p:sp>
        <p:nvSpPr>
          <p:cNvPr id="4" name="Shape 1"/>
          <p:cNvSpPr/>
          <p:nvPr/>
        </p:nvSpPr>
        <p:spPr>
          <a:xfrm>
            <a:off x="457200" y="1097280"/>
            <a:ext cx="3931920" cy="3474720"/>
          </a:xfrm>
          <a:prstGeom prst="rect">
            <a:avLst/>
          </a:prstGeom>
          <a:solidFill>
            <a:srgbClr val="151829"/>
          </a:solidFill>
          <a:ln/>
          <a:effectLst>
            <a:outerShdw sx="100000" sy="100000" kx="0" ky="0" algn="bl" rotWithShape="0" blurRad="101600" dist="38100" dir="8100000">
              <a:srgbClr val="000000">
                <a:alpha val="30000"/>
              </a:srgbClr>
            </a:outerShdw>
          </a:effectLst>
        </p:spPr>
      </p:sp>
      <p:sp>
        <p:nvSpPr>
          <p:cNvPr id="5" name="Shape 2"/>
          <p:cNvSpPr/>
          <p:nvPr/>
        </p:nvSpPr>
        <p:spPr>
          <a:xfrm>
            <a:off x="457200" y="1097280"/>
            <a:ext cx="3931920" cy="54864"/>
          </a:xfrm>
          <a:prstGeom prst="rect">
            <a:avLst/>
          </a:prstGeom>
          <a:solidFill>
            <a:srgbClr val="14F195"/>
          </a:solidFill>
          <a:ln/>
        </p:spPr>
      </p:sp>
      <p:sp>
        <p:nvSpPr>
          <p:cNvPr id="6" name="Text 3"/>
          <p:cNvSpPr/>
          <p:nvPr/>
        </p:nvSpPr>
        <p:spPr>
          <a:xfrm>
            <a:off x="731520" y="1325880"/>
            <a:ext cx="3383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4F19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自动通过</a:t>
            </a:r>
            <a:endParaRPr lang="en-US" sz="1600" dirty="0"/>
          </a:p>
        </p:txBody>
      </p:sp>
      <p:sp>
        <p:nvSpPr>
          <p:cNvPr id="7" name="Text 4"/>
          <p:cNvSpPr/>
          <p:nvPr/>
        </p:nvSpPr>
        <p:spPr>
          <a:xfrm>
            <a:off x="731520" y="1828800"/>
            <a:ext cx="33832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白名单商户</a:t>
            </a:r>
            <a:endParaRPr lang="en-US" sz="12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金额低于全局阈值</a:t>
            </a:r>
            <a:endParaRPr lang="en-US" sz="12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无需通知用户</a:t>
            </a:r>
            <a:endParaRPr lang="en-US" sz="12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MCP 直接执行链上支付</a:t>
            </a:r>
            <a:endParaRPr lang="en-US" sz="1200" dirty="0"/>
          </a:p>
        </p:txBody>
      </p:sp>
      <p:sp>
        <p:nvSpPr>
          <p:cNvPr id="8" name="Text 5"/>
          <p:cNvSpPr/>
          <p:nvPr/>
        </p:nvSpPr>
        <p:spPr>
          <a:xfrm>
            <a:off x="731520" y="3474720"/>
            <a:ext cx="3383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4F19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零延迟 | 零用户交互</a:t>
            </a:r>
            <a:endParaRPr lang="en-US" sz="1100" dirty="0"/>
          </a:p>
        </p:txBody>
      </p:sp>
      <p:sp>
        <p:nvSpPr>
          <p:cNvPr id="9" name="Shape 6"/>
          <p:cNvSpPr/>
          <p:nvPr/>
        </p:nvSpPr>
        <p:spPr>
          <a:xfrm>
            <a:off x="4754880" y="1097280"/>
            <a:ext cx="3931920" cy="3474720"/>
          </a:xfrm>
          <a:prstGeom prst="rect">
            <a:avLst/>
          </a:prstGeom>
          <a:solidFill>
            <a:srgbClr val="151829"/>
          </a:solidFill>
          <a:ln/>
          <a:effectLst>
            <a:outerShdw sx="100000" sy="100000" kx="0" ky="0" algn="bl" rotWithShape="0" blurRad="101600" dist="38100" dir="8100000">
              <a:srgbClr val="000000">
                <a:alpha val="30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4754880" y="1097280"/>
            <a:ext cx="3931920" cy="54864"/>
          </a:xfrm>
          <a:prstGeom prst="rect">
            <a:avLst/>
          </a:prstGeom>
          <a:solidFill>
            <a:srgbClr val="9945FF"/>
          </a:solidFill>
          <a:ln/>
        </p:spPr>
      </p:sp>
      <p:sp>
        <p:nvSpPr>
          <p:cNvPr id="11" name="Text 8"/>
          <p:cNvSpPr/>
          <p:nvPr/>
        </p:nvSpPr>
        <p:spPr>
          <a:xfrm>
            <a:off x="5029200" y="1325880"/>
            <a:ext cx="3383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D4A0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手机授权</a:t>
            </a:r>
            <a:endParaRPr lang="en-US" sz="1600" dirty="0"/>
          </a:p>
        </p:txBody>
      </p:sp>
      <p:sp>
        <p:nvSpPr>
          <p:cNvPr id="12" name="Text 9"/>
          <p:cNvSpPr/>
          <p:nvPr/>
        </p:nvSpPr>
        <p:spPr>
          <a:xfrm>
            <a:off x="5029200" y="1828800"/>
            <a:ext cx="33832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新商户 / 超额支付</a:t>
            </a:r>
            <a:endParaRPr lang="en-US" sz="12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DIDComm 加密推送授权请求</a:t>
            </a:r>
            <a:endParaRPr lang="en-US" sz="12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手机一划确认 / 拒绝</a:t>
            </a:r>
            <a:endParaRPr lang="en-US" sz="12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创建临时 Session Key 执行支付</a:t>
            </a:r>
            <a:endParaRPr lang="en-US" sz="1200" dirty="0"/>
          </a:p>
        </p:txBody>
      </p:sp>
      <p:sp>
        <p:nvSpPr>
          <p:cNvPr id="13" name="Text 10"/>
          <p:cNvSpPr/>
          <p:nvPr/>
        </p:nvSpPr>
        <p:spPr>
          <a:xfrm>
            <a:off x="5029200" y="3474720"/>
            <a:ext cx="3383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0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端到端加密 | 临时密钥隔离</a:t>
            </a:r>
            <a:endParaRPr lang="en-US" sz="11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B0D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31520" y="320040"/>
            <a:ext cx="365760" cy="36576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1234440" y="320040"/>
            <a:ext cx="6400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多路径支付引擎</a:t>
            </a:r>
            <a:endParaRPr lang="en-US" sz="2400" dirty="0"/>
          </a:p>
        </p:txBody>
      </p:sp>
      <p:sp>
        <p:nvSpPr>
          <p:cNvPr id="4" name="Shape 1"/>
          <p:cNvSpPr/>
          <p:nvPr/>
        </p:nvSpPr>
        <p:spPr>
          <a:xfrm>
            <a:off x="182880" y="1097280"/>
            <a:ext cx="1664208" cy="3291840"/>
          </a:xfrm>
          <a:prstGeom prst="rect">
            <a:avLst/>
          </a:prstGeom>
          <a:solidFill>
            <a:srgbClr val="151829"/>
          </a:solidFill>
          <a:ln/>
          <a:effectLst>
            <a:outerShdw sx="100000" sy="100000" kx="0" ky="0" algn="bl" rotWithShape="0" blurRad="101600" dist="38100" dir="8100000">
              <a:srgbClr val="000000">
                <a:alpha val="30000"/>
              </a:srgbClr>
            </a:outerShdw>
          </a:effectLst>
        </p:spPr>
      </p:sp>
      <p:sp>
        <p:nvSpPr>
          <p:cNvPr id="5" name="Shape 2"/>
          <p:cNvSpPr/>
          <p:nvPr/>
        </p:nvSpPr>
        <p:spPr>
          <a:xfrm>
            <a:off x="182880" y="1097280"/>
            <a:ext cx="1664208" cy="45720"/>
          </a:xfrm>
          <a:prstGeom prst="rect">
            <a:avLst/>
          </a:prstGeom>
          <a:solidFill>
            <a:srgbClr val="9945FF"/>
          </a:solidFill>
          <a:ln/>
        </p:spPr>
      </p:sp>
      <p:sp>
        <p:nvSpPr>
          <p:cNvPr id="6" name="Text 3"/>
          <p:cNvSpPr/>
          <p:nvPr/>
        </p:nvSpPr>
        <p:spPr>
          <a:xfrm>
            <a:off x="274320" y="1280160"/>
            <a:ext cx="148132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9945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Session Key</a:t>
            </a:r>
            <a:endParaRPr lang="en-US" sz="1200" dirty="0"/>
          </a:p>
        </p:txBody>
      </p:sp>
      <p:sp>
        <p:nvSpPr>
          <p:cNvPr id="7" name="Text 4"/>
          <p:cNvSpPr/>
          <p:nvPr/>
        </p:nvSpPr>
        <p:spPr>
          <a:xfrm>
            <a:off x="274320" y="1737360"/>
            <a:ext cx="148132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~400ms</a:t>
            </a:r>
            <a:endParaRPr lang="en-US" sz="1800" dirty="0"/>
          </a:p>
        </p:txBody>
      </p:sp>
      <p:sp>
        <p:nvSpPr>
          <p:cNvPr id="8" name="Text 5"/>
          <p:cNvSpPr/>
          <p:nvPr/>
        </p:nvSpPr>
        <p:spPr>
          <a:xfrm>
            <a:off x="274320" y="2103120"/>
            <a:ext cx="148132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888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延迟</a:t>
            </a:r>
            <a:endParaRPr lang="en-US" sz="900" dirty="0"/>
          </a:p>
        </p:txBody>
      </p:sp>
      <p:sp>
        <p:nvSpPr>
          <p:cNvPr id="9" name="Shape 6"/>
          <p:cNvSpPr/>
          <p:nvPr/>
        </p:nvSpPr>
        <p:spPr>
          <a:xfrm>
            <a:off x="274320" y="2514600"/>
            <a:ext cx="1481328" cy="274320"/>
          </a:xfrm>
          <a:prstGeom prst="rect">
            <a:avLst/>
          </a:prstGeom>
          <a:solidFill>
            <a:srgbClr val="1C2039"/>
          </a:solidFill>
          <a:ln/>
        </p:spPr>
      </p:sp>
      <p:sp>
        <p:nvSpPr>
          <p:cNvPr id="10" name="Text 7"/>
          <p:cNvSpPr/>
          <p:nvPr/>
        </p:nvSpPr>
        <p:spPr>
          <a:xfrm>
            <a:off x="274320" y="2514600"/>
            <a:ext cx="14813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C4C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Gas: Normal</a:t>
            </a:r>
            <a:endParaRPr lang="en-US" sz="900" dirty="0"/>
          </a:p>
        </p:txBody>
      </p:sp>
      <p:sp>
        <p:nvSpPr>
          <p:cNvPr id="11" name="Text 8"/>
          <p:cNvSpPr/>
          <p:nvPr/>
        </p:nvSpPr>
        <p:spPr>
          <a:xfrm>
            <a:off x="274320" y="3017520"/>
            <a:ext cx="1481328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8888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链上 SOL/SPL 转账</a:t>
            </a:r>
            <a:endParaRPr lang="en-US" sz="100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8888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临时密钥授权</a:t>
            </a:r>
            <a:endParaRPr lang="en-US" sz="1000" dirty="0"/>
          </a:p>
        </p:txBody>
      </p:sp>
      <p:sp>
        <p:nvSpPr>
          <p:cNvPr id="12" name="Shape 9"/>
          <p:cNvSpPr/>
          <p:nvPr/>
        </p:nvSpPr>
        <p:spPr>
          <a:xfrm>
            <a:off x="1975104" y="1097280"/>
            <a:ext cx="1664208" cy="3291840"/>
          </a:xfrm>
          <a:prstGeom prst="rect">
            <a:avLst/>
          </a:prstGeom>
          <a:solidFill>
            <a:srgbClr val="151829"/>
          </a:solidFill>
          <a:ln/>
          <a:effectLst>
            <a:outerShdw sx="100000" sy="100000" kx="0" ky="0" algn="bl" rotWithShape="0" blurRad="101600" dist="38100" dir="8100000">
              <a:srgbClr val="000000">
                <a:alpha val="30000"/>
              </a:srgbClr>
            </a:outerShdw>
          </a:effectLst>
        </p:spPr>
      </p:sp>
      <p:sp>
        <p:nvSpPr>
          <p:cNvPr id="13" name="Shape 10"/>
          <p:cNvSpPr/>
          <p:nvPr/>
        </p:nvSpPr>
        <p:spPr>
          <a:xfrm>
            <a:off x="1975104" y="1097280"/>
            <a:ext cx="1664208" cy="45720"/>
          </a:xfrm>
          <a:prstGeom prst="rect">
            <a:avLst/>
          </a:prstGeom>
          <a:solidFill>
            <a:srgbClr val="6366F1"/>
          </a:solidFill>
          <a:ln/>
        </p:spPr>
      </p:sp>
      <p:sp>
        <p:nvSpPr>
          <p:cNvPr id="14" name="Text 11"/>
          <p:cNvSpPr/>
          <p:nvPr/>
        </p:nvSpPr>
        <p:spPr>
          <a:xfrm>
            <a:off x="2066544" y="1280160"/>
            <a:ext cx="148132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Direct Wallet</a:t>
            </a:r>
            <a:endParaRPr lang="en-US" sz="1200" dirty="0"/>
          </a:p>
        </p:txBody>
      </p:sp>
      <p:sp>
        <p:nvSpPr>
          <p:cNvPr id="15" name="Text 12"/>
          <p:cNvSpPr/>
          <p:nvPr/>
        </p:nvSpPr>
        <p:spPr>
          <a:xfrm>
            <a:off x="2066544" y="1737360"/>
            <a:ext cx="148132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~400ms</a:t>
            </a:r>
            <a:endParaRPr lang="en-US" sz="1800" dirty="0"/>
          </a:p>
        </p:txBody>
      </p:sp>
      <p:sp>
        <p:nvSpPr>
          <p:cNvPr id="16" name="Text 13"/>
          <p:cNvSpPr/>
          <p:nvPr/>
        </p:nvSpPr>
        <p:spPr>
          <a:xfrm>
            <a:off x="2066544" y="2103120"/>
            <a:ext cx="148132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888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延迟</a:t>
            </a:r>
            <a:endParaRPr lang="en-US" sz="900" dirty="0"/>
          </a:p>
        </p:txBody>
      </p:sp>
      <p:sp>
        <p:nvSpPr>
          <p:cNvPr id="17" name="Shape 14"/>
          <p:cNvSpPr/>
          <p:nvPr/>
        </p:nvSpPr>
        <p:spPr>
          <a:xfrm>
            <a:off x="2066544" y="2514600"/>
            <a:ext cx="1481328" cy="274320"/>
          </a:xfrm>
          <a:prstGeom prst="rect">
            <a:avLst/>
          </a:prstGeom>
          <a:solidFill>
            <a:srgbClr val="1C2039"/>
          </a:solidFill>
          <a:ln/>
        </p:spPr>
      </p:sp>
      <p:sp>
        <p:nvSpPr>
          <p:cNvPr id="18" name="Text 15"/>
          <p:cNvSpPr/>
          <p:nvPr/>
        </p:nvSpPr>
        <p:spPr>
          <a:xfrm>
            <a:off x="2066544" y="2514600"/>
            <a:ext cx="14813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C4C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Gas: Normal</a:t>
            </a:r>
            <a:endParaRPr lang="en-US" sz="900" dirty="0"/>
          </a:p>
        </p:txBody>
      </p:sp>
      <p:sp>
        <p:nvSpPr>
          <p:cNvPr id="19" name="Text 16"/>
          <p:cNvSpPr/>
          <p:nvPr/>
        </p:nvSpPr>
        <p:spPr>
          <a:xfrm>
            <a:off x="2066544" y="3017520"/>
            <a:ext cx="1481328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8888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Phantom / Solflare</a:t>
            </a:r>
            <a:endParaRPr lang="en-US" sz="100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8888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Deep Link 签名</a:t>
            </a:r>
            <a:endParaRPr lang="en-US" sz="1000" dirty="0"/>
          </a:p>
        </p:txBody>
      </p:sp>
      <p:sp>
        <p:nvSpPr>
          <p:cNvPr id="20" name="Shape 17"/>
          <p:cNvSpPr/>
          <p:nvPr/>
        </p:nvSpPr>
        <p:spPr>
          <a:xfrm>
            <a:off x="3767328" y="1097280"/>
            <a:ext cx="1664208" cy="3291840"/>
          </a:xfrm>
          <a:prstGeom prst="rect">
            <a:avLst/>
          </a:prstGeom>
          <a:solidFill>
            <a:srgbClr val="151829"/>
          </a:solidFill>
          <a:ln/>
          <a:effectLst>
            <a:outerShdw sx="100000" sy="100000" kx="0" ky="0" algn="bl" rotWithShape="0" blurRad="101600" dist="38100" dir="8100000">
              <a:srgbClr val="000000">
                <a:alpha val="30000"/>
              </a:srgbClr>
            </a:outerShdw>
          </a:effectLst>
        </p:spPr>
      </p:sp>
      <p:sp>
        <p:nvSpPr>
          <p:cNvPr id="21" name="Shape 18"/>
          <p:cNvSpPr/>
          <p:nvPr/>
        </p:nvSpPr>
        <p:spPr>
          <a:xfrm>
            <a:off x="3767328" y="1097280"/>
            <a:ext cx="1664208" cy="45720"/>
          </a:xfrm>
          <a:prstGeom prst="rect">
            <a:avLst/>
          </a:prstGeom>
          <a:solidFill>
            <a:srgbClr val="F59E0B"/>
          </a:solidFill>
          <a:ln/>
        </p:spPr>
      </p:sp>
      <p:sp>
        <p:nvSpPr>
          <p:cNvPr id="22" name="Text 19"/>
          <p:cNvSpPr/>
          <p:nvPr/>
        </p:nvSpPr>
        <p:spPr>
          <a:xfrm>
            <a:off x="3858768" y="1280160"/>
            <a:ext cx="148132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59E0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Relayer</a:t>
            </a:r>
            <a:endParaRPr lang="en-US" sz="1200" dirty="0"/>
          </a:p>
        </p:txBody>
      </p:sp>
      <p:sp>
        <p:nvSpPr>
          <p:cNvPr id="23" name="Text 20"/>
          <p:cNvSpPr/>
          <p:nvPr/>
        </p:nvSpPr>
        <p:spPr>
          <a:xfrm>
            <a:off x="3858768" y="1737360"/>
            <a:ext cx="148132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~400ms</a:t>
            </a:r>
            <a:endParaRPr lang="en-US" sz="1800" dirty="0"/>
          </a:p>
        </p:txBody>
      </p:sp>
      <p:sp>
        <p:nvSpPr>
          <p:cNvPr id="24" name="Text 21"/>
          <p:cNvSpPr/>
          <p:nvPr/>
        </p:nvSpPr>
        <p:spPr>
          <a:xfrm>
            <a:off x="3858768" y="2103120"/>
            <a:ext cx="148132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888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延迟</a:t>
            </a:r>
            <a:endParaRPr lang="en-US" sz="900" dirty="0"/>
          </a:p>
        </p:txBody>
      </p:sp>
      <p:sp>
        <p:nvSpPr>
          <p:cNvPr id="25" name="Shape 22"/>
          <p:cNvSpPr/>
          <p:nvPr/>
        </p:nvSpPr>
        <p:spPr>
          <a:xfrm>
            <a:off x="3858768" y="2514600"/>
            <a:ext cx="1481328" cy="274320"/>
          </a:xfrm>
          <a:prstGeom prst="rect">
            <a:avLst/>
          </a:prstGeom>
          <a:solidFill>
            <a:srgbClr val="1C2039"/>
          </a:solidFill>
          <a:ln/>
        </p:spPr>
      </p:sp>
      <p:sp>
        <p:nvSpPr>
          <p:cNvPr id="26" name="Text 23"/>
          <p:cNvSpPr/>
          <p:nvPr/>
        </p:nvSpPr>
        <p:spPr>
          <a:xfrm>
            <a:off x="3858768" y="2514600"/>
            <a:ext cx="14813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C4C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Gas: Sponsored</a:t>
            </a:r>
            <a:endParaRPr lang="en-US" sz="900" dirty="0"/>
          </a:p>
        </p:txBody>
      </p:sp>
      <p:sp>
        <p:nvSpPr>
          <p:cNvPr id="27" name="Text 24"/>
          <p:cNvSpPr/>
          <p:nvPr/>
        </p:nvSpPr>
        <p:spPr>
          <a:xfrm>
            <a:off x="3858768" y="3017520"/>
            <a:ext cx="1481328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8888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代付 Gas</a:t>
            </a:r>
            <a:endParaRPr lang="en-US" sz="100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8888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零门槛用户</a:t>
            </a:r>
            <a:endParaRPr lang="en-US" sz="1000" dirty="0"/>
          </a:p>
        </p:txBody>
      </p:sp>
      <p:sp>
        <p:nvSpPr>
          <p:cNvPr id="28" name="Shape 25"/>
          <p:cNvSpPr/>
          <p:nvPr/>
        </p:nvSpPr>
        <p:spPr>
          <a:xfrm>
            <a:off x="5559552" y="1097280"/>
            <a:ext cx="1664208" cy="3291840"/>
          </a:xfrm>
          <a:prstGeom prst="rect">
            <a:avLst/>
          </a:prstGeom>
          <a:solidFill>
            <a:srgbClr val="151829"/>
          </a:solidFill>
          <a:ln/>
          <a:effectLst>
            <a:outerShdw sx="100000" sy="100000" kx="0" ky="0" algn="bl" rotWithShape="0" blurRad="101600" dist="38100" dir="8100000">
              <a:srgbClr val="000000">
                <a:alpha val="30000"/>
              </a:srgbClr>
            </a:outerShdw>
          </a:effectLst>
        </p:spPr>
      </p:sp>
      <p:sp>
        <p:nvSpPr>
          <p:cNvPr id="29" name="Shape 26"/>
          <p:cNvSpPr/>
          <p:nvPr/>
        </p:nvSpPr>
        <p:spPr>
          <a:xfrm>
            <a:off x="5559552" y="1097280"/>
            <a:ext cx="1664208" cy="45720"/>
          </a:xfrm>
          <a:prstGeom prst="rect">
            <a:avLst/>
          </a:prstGeom>
          <a:solidFill>
            <a:srgbClr val="14F195"/>
          </a:solidFill>
          <a:ln/>
        </p:spPr>
      </p:sp>
      <p:sp>
        <p:nvSpPr>
          <p:cNvPr id="30" name="Text 27"/>
          <p:cNvSpPr/>
          <p:nvPr/>
        </p:nvSpPr>
        <p:spPr>
          <a:xfrm>
            <a:off x="5650992" y="1280160"/>
            <a:ext cx="148132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4F19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MagicBlock</a:t>
            </a:r>
            <a:endParaRPr lang="en-US" sz="1200" dirty="0"/>
          </a:p>
        </p:txBody>
      </p:sp>
      <p:sp>
        <p:nvSpPr>
          <p:cNvPr id="31" name="Text 28"/>
          <p:cNvSpPr/>
          <p:nvPr/>
        </p:nvSpPr>
        <p:spPr>
          <a:xfrm>
            <a:off x="5650992" y="1737360"/>
            <a:ext cx="148132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&lt;50ms</a:t>
            </a:r>
            <a:endParaRPr lang="en-US" sz="1800" dirty="0"/>
          </a:p>
        </p:txBody>
      </p:sp>
      <p:sp>
        <p:nvSpPr>
          <p:cNvPr id="32" name="Text 29"/>
          <p:cNvSpPr/>
          <p:nvPr/>
        </p:nvSpPr>
        <p:spPr>
          <a:xfrm>
            <a:off x="5650992" y="2103120"/>
            <a:ext cx="148132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888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延迟</a:t>
            </a:r>
            <a:endParaRPr lang="en-US" sz="900" dirty="0"/>
          </a:p>
        </p:txBody>
      </p:sp>
      <p:sp>
        <p:nvSpPr>
          <p:cNvPr id="33" name="Shape 30"/>
          <p:cNvSpPr/>
          <p:nvPr/>
        </p:nvSpPr>
        <p:spPr>
          <a:xfrm>
            <a:off x="5650992" y="2514600"/>
            <a:ext cx="1481328" cy="274320"/>
          </a:xfrm>
          <a:prstGeom prst="rect">
            <a:avLst/>
          </a:prstGeom>
          <a:solidFill>
            <a:srgbClr val="1C2039"/>
          </a:solidFill>
          <a:ln/>
        </p:spPr>
      </p:sp>
      <p:sp>
        <p:nvSpPr>
          <p:cNvPr id="34" name="Text 31"/>
          <p:cNvSpPr/>
          <p:nvPr/>
        </p:nvSpPr>
        <p:spPr>
          <a:xfrm>
            <a:off x="5650992" y="2514600"/>
            <a:ext cx="14813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C4C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Gas: Free</a:t>
            </a:r>
            <a:endParaRPr lang="en-US" sz="900" dirty="0"/>
          </a:p>
        </p:txBody>
      </p:sp>
      <p:sp>
        <p:nvSpPr>
          <p:cNvPr id="35" name="Text 32"/>
          <p:cNvSpPr/>
          <p:nvPr/>
        </p:nvSpPr>
        <p:spPr>
          <a:xfrm>
            <a:off x="5650992" y="3017520"/>
            <a:ext cx="1481328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8888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链下 Voucher</a:t>
            </a:r>
            <a:endParaRPr lang="en-US" sz="100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8888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亚秒级批量结算</a:t>
            </a:r>
            <a:endParaRPr lang="en-US" sz="1000" dirty="0"/>
          </a:p>
        </p:txBody>
      </p:sp>
      <p:sp>
        <p:nvSpPr>
          <p:cNvPr id="36" name="Shape 33"/>
          <p:cNvSpPr/>
          <p:nvPr/>
        </p:nvSpPr>
        <p:spPr>
          <a:xfrm>
            <a:off x="7351776" y="1097280"/>
            <a:ext cx="1664208" cy="3291840"/>
          </a:xfrm>
          <a:prstGeom prst="rect">
            <a:avLst/>
          </a:prstGeom>
          <a:solidFill>
            <a:srgbClr val="151829"/>
          </a:solidFill>
          <a:ln/>
          <a:effectLst>
            <a:outerShdw sx="100000" sy="100000" kx="0" ky="0" algn="bl" rotWithShape="0" blurRad="101600" dist="38100" dir="8100000">
              <a:srgbClr val="000000">
                <a:alpha val="30000"/>
              </a:srgbClr>
            </a:outerShdw>
          </a:effectLst>
        </p:spPr>
      </p:sp>
      <p:sp>
        <p:nvSpPr>
          <p:cNvPr id="37" name="Shape 34"/>
          <p:cNvSpPr/>
          <p:nvPr/>
        </p:nvSpPr>
        <p:spPr>
          <a:xfrm>
            <a:off x="7351776" y="1097280"/>
            <a:ext cx="1664208" cy="45720"/>
          </a:xfrm>
          <a:prstGeom prst="rect">
            <a:avLst/>
          </a:prstGeom>
          <a:solidFill>
            <a:srgbClr val="06B6D4"/>
          </a:solidFill>
          <a:ln/>
        </p:spPr>
      </p:sp>
      <p:sp>
        <p:nvSpPr>
          <p:cNvPr id="38" name="Text 35"/>
          <p:cNvSpPr/>
          <p:nvPr/>
        </p:nvSpPr>
        <p:spPr>
          <a:xfrm>
            <a:off x="7443216" y="1280160"/>
            <a:ext cx="148132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6B6D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CCTP</a:t>
            </a:r>
            <a:endParaRPr lang="en-US" sz="1200" dirty="0"/>
          </a:p>
        </p:txBody>
      </p:sp>
      <p:sp>
        <p:nvSpPr>
          <p:cNvPr id="39" name="Text 36"/>
          <p:cNvSpPr/>
          <p:nvPr/>
        </p:nvSpPr>
        <p:spPr>
          <a:xfrm>
            <a:off x="7443216" y="1737360"/>
            <a:ext cx="148132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10-30min</a:t>
            </a:r>
            <a:endParaRPr lang="en-US" sz="1800" dirty="0"/>
          </a:p>
        </p:txBody>
      </p:sp>
      <p:sp>
        <p:nvSpPr>
          <p:cNvPr id="40" name="Text 37"/>
          <p:cNvSpPr/>
          <p:nvPr/>
        </p:nvSpPr>
        <p:spPr>
          <a:xfrm>
            <a:off x="7443216" y="2103120"/>
            <a:ext cx="148132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888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延迟</a:t>
            </a:r>
            <a:endParaRPr lang="en-US" sz="900" dirty="0"/>
          </a:p>
        </p:txBody>
      </p:sp>
      <p:sp>
        <p:nvSpPr>
          <p:cNvPr id="41" name="Shape 38"/>
          <p:cNvSpPr/>
          <p:nvPr/>
        </p:nvSpPr>
        <p:spPr>
          <a:xfrm>
            <a:off x="7443216" y="2514600"/>
            <a:ext cx="1481328" cy="274320"/>
          </a:xfrm>
          <a:prstGeom prst="rect">
            <a:avLst/>
          </a:prstGeom>
          <a:solidFill>
            <a:srgbClr val="1C2039"/>
          </a:solidFill>
          <a:ln/>
        </p:spPr>
      </p:sp>
      <p:sp>
        <p:nvSpPr>
          <p:cNvPr id="42" name="Text 39"/>
          <p:cNvSpPr/>
          <p:nvPr/>
        </p:nvSpPr>
        <p:spPr>
          <a:xfrm>
            <a:off x="7443216" y="2514600"/>
            <a:ext cx="14813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C4C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Gas: Source</a:t>
            </a:r>
            <a:endParaRPr lang="en-US" sz="900" dirty="0"/>
          </a:p>
        </p:txBody>
      </p:sp>
      <p:sp>
        <p:nvSpPr>
          <p:cNvPr id="43" name="Text 40"/>
          <p:cNvSpPr/>
          <p:nvPr/>
        </p:nvSpPr>
        <p:spPr>
          <a:xfrm>
            <a:off x="7443216" y="3017520"/>
            <a:ext cx="1481328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8888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跨链 USDC</a:t>
            </a:r>
            <a:endParaRPr lang="en-US" sz="100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8888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EVM → Solana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B0D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31520" y="320040"/>
            <a:ext cx="365760" cy="36576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1234440" y="320040"/>
            <a:ext cx="6400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DIDComm v2 端到端加密</a:t>
            </a:r>
            <a:endParaRPr lang="en-US" sz="2400" dirty="0"/>
          </a:p>
        </p:txBody>
      </p:sp>
      <p:sp>
        <p:nvSpPr>
          <p:cNvPr id="4" name="Shape 1"/>
          <p:cNvSpPr/>
          <p:nvPr/>
        </p:nvSpPr>
        <p:spPr>
          <a:xfrm>
            <a:off x="685800" y="1280160"/>
            <a:ext cx="731520" cy="731520"/>
          </a:xfrm>
          <a:prstGeom prst="ellipse">
            <a:avLst/>
          </a:prstGeom>
          <a:solidFill>
            <a:srgbClr val="9945FF"/>
          </a:solidFill>
          <a:ln/>
          <a:effectLst>
            <a:outerShdw sx="100000" sy="100000" kx="0" ky="0" algn="bl" rotWithShape="0" blurRad="101600" dist="38100" dir="8100000">
              <a:srgbClr val="000000">
                <a:alpha val="30000"/>
              </a:srgbClr>
            </a:outerShdw>
          </a:effectLst>
        </p:spPr>
      </p:sp>
      <p:sp>
        <p:nvSpPr>
          <p:cNvPr id="5" name="Text 2"/>
          <p:cNvSpPr/>
          <p:nvPr/>
        </p:nvSpPr>
        <p:spPr>
          <a:xfrm>
            <a:off x="685800" y="1280160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MCP</a:t>
            </a:r>
            <a:endParaRPr lang="en-US" sz="1000" dirty="0"/>
          </a:p>
        </p:txBody>
      </p:sp>
      <p:sp>
        <p:nvSpPr>
          <p:cNvPr id="6" name="Text 3"/>
          <p:cNvSpPr/>
          <p:nvPr/>
        </p:nvSpPr>
        <p:spPr>
          <a:xfrm>
            <a:off x="457200" y="2148840"/>
            <a:ext cx="1188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30000"/>
              </a:lnSpc>
              <a:buNone/>
            </a:pPr>
            <a:r>
              <a:rPr lang="en-US" sz="900" dirty="0">
                <a:solidFill>
                  <a:srgbClr val="C4C4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支付授权请求</a:t>
            </a:r>
            <a:endParaRPr lang="en-US" sz="900" dirty="0"/>
          </a:p>
        </p:txBody>
      </p:sp>
      <p:sp>
        <p:nvSpPr>
          <p:cNvPr id="7" name="Shape 4"/>
          <p:cNvSpPr/>
          <p:nvPr/>
        </p:nvSpPr>
        <p:spPr>
          <a:xfrm>
            <a:off x="2606040" y="1280160"/>
            <a:ext cx="731520" cy="731520"/>
          </a:xfrm>
          <a:prstGeom prst="ellipse">
            <a:avLst/>
          </a:prstGeom>
          <a:solidFill>
            <a:srgbClr val="EF4444"/>
          </a:solidFill>
          <a:ln/>
          <a:effectLst>
            <a:outerShdw sx="100000" sy="100000" kx="0" ky="0" algn="bl" rotWithShape="0" blurRad="101600" dist="38100" dir="8100000">
              <a:srgbClr val="000000">
                <a:alpha val="30000"/>
              </a:srgbClr>
            </a:outerShdw>
          </a:effectLst>
        </p:spPr>
      </p:sp>
      <p:sp>
        <p:nvSpPr>
          <p:cNvPr id="8" name="Text 5"/>
          <p:cNvSpPr/>
          <p:nvPr/>
        </p:nvSpPr>
        <p:spPr>
          <a:xfrm>
            <a:off x="2606040" y="1280160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JWE</a:t>
            </a:r>
            <a:endParaRPr lang="en-US" sz="1000" dirty="0"/>
          </a:p>
        </p:txBody>
      </p:sp>
      <p:sp>
        <p:nvSpPr>
          <p:cNvPr id="9" name="Text 6"/>
          <p:cNvSpPr/>
          <p:nvPr/>
        </p:nvSpPr>
        <p:spPr>
          <a:xfrm>
            <a:off x="2377440" y="2148840"/>
            <a:ext cx="1188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30000"/>
              </a:lnSpc>
              <a:buNone/>
            </a:pPr>
            <a:r>
              <a:rPr lang="en-US" sz="900" dirty="0">
                <a:solidFill>
                  <a:srgbClr val="C4C4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Authcrypt 加密</a:t>
            </a:r>
            <a:endParaRPr lang="en-US" sz="900" dirty="0"/>
          </a:p>
        </p:txBody>
      </p:sp>
      <p:sp>
        <p:nvSpPr>
          <p:cNvPr id="10" name="Shape 7"/>
          <p:cNvSpPr/>
          <p:nvPr/>
        </p:nvSpPr>
        <p:spPr>
          <a:xfrm>
            <a:off x="4526280" y="1280160"/>
            <a:ext cx="731520" cy="731520"/>
          </a:xfrm>
          <a:prstGeom prst="ellipse">
            <a:avLst/>
          </a:prstGeom>
          <a:solidFill>
            <a:srgbClr val="9945FF"/>
          </a:solidFill>
          <a:ln/>
          <a:effectLst>
            <a:outerShdw sx="100000" sy="100000" kx="0" ky="0" algn="bl" rotWithShape="0" blurRad="101600" dist="38100" dir="8100000">
              <a:srgbClr val="000000">
                <a:alpha val="30000"/>
              </a:srgbClr>
            </a:outerShdw>
          </a:effectLst>
        </p:spPr>
      </p:sp>
      <p:sp>
        <p:nvSpPr>
          <p:cNvPr id="11" name="Text 8"/>
          <p:cNvSpPr/>
          <p:nvPr/>
        </p:nvSpPr>
        <p:spPr>
          <a:xfrm>
            <a:off x="4526280" y="1280160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Mediator</a:t>
            </a:r>
            <a:endParaRPr lang="en-US" sz="1000" dirty="0"/>
          </a:p>
        </p:txBody>
      </p:sp>
      <p:sp>
        <p:nvSpPr>
          <p:cNvPr id="12" name="Text 9"/>
          <p:cNvSpPr/>
          <p:nvPr/>
        </p:nvSpPr>
        <p:spPr>
          <a:xfrm>
            <a:off x="4297680" y="2148840"/>
            <a:ext cx="1188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30000"/>
              </a:lnSpc>
              <a:buNone/>
            </a:pPr>
            <a:r>
              <a:rPr lang="en-US" sz="900" dirty="0">
                <a:solidFill>
                  <a:srgbClr val="C4C4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中继转发</a:t>
            </a:r>
            <a:endParaRPr lang="en-US" sz="900" dirty="0"/>
          </a:p>
          <a:p>
            <a:pPr algn="ctr" indent="0" marL="0">
              <a:lnSpc>
                <a:spcPct val="130000"/>
              </a:lnSpc>
              <a:buNone/>
            </a:pPr>
            <a:r>
              <a:rPr lang="en-US" sz="900" dirty="0">
                <a:solidFill>
                  <a:srgbClr val="C4C4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(无法解密)</a:t>
            </a:r>
            <a:endParaRPr lang="en-US" sz="900" dirty="0"/>
          </a:p>
        </p:txBody>
      </p:sp>
      <p:sp>
        <p:nvSpPr>
          <p:cNvPr id="13" name="Shape 10"/>
          <p:cNvSpPr/>
          <p:nvPr/>
        </p:nvSpPr>
        <p:spPr>
          <a:xfrm>
            <a:off x="5897880" y="1280160"/>
            <a:ext cx="731520" cy="731520"/>
          </a:xfrm>
          <a:prstGeom prst="ellipse">
            <a:avLst/>
          </a:prstGeom>
          <a:solidFill>
            <a:srgbClr val="EF4444"/>
          </a:solidFill>
          <a:ln/>
          <a:effectLst>
            <a:outerShdw sx="100000" sy="100000" kx="0" ky="0" algn="bl" rotWithShape="0" blurRad="101600" dist="38100" dir="8100000">
              <a:srgbClr val="000000">
                <a:alpha val="30000"/>
              </a:srgbClr>
            </a:outerShdw>
          </a:effectLst>
        </p:spPr>
      </p:sp>
      <p:sp>
        <p:nvSpPr>
          <p:cNvPr id="14" name="Text 11"/>
          <p:cNvSpPr/>
          <p:nvPr/>
        </p:nvSpPr>
        <p:spPr>
          <a:xfrm>
            <a:off x="5897880" y="1280160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JWE</a:t>
            </a:r>
            <a:endParaRPr lang="en-US" sz="1000" dirty="0"/>
          </a:p>
        </p:txBody>
      </p:sp>
      <p:sp>
        <p:nvSpPr>
          <p:cNvPr id="15" name="Text 12"/>
          <p:cNvSpPr/>
          <p:nvPr/>
        </p:nvSpPr>
        <p:spPr>
          <a:xfrm>
            <a:off x="5669280" y="2148840"/>
            <a:ext cx="1188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30000"/>
              </a:lnSpc>
              <a:buNone/>
            </a:pPr>
            <a:r>
              <a:rPr lang="en-US" sz="900" dirty="0">
                <a:solidFill>
                  <a:srgbClr val="C4C4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密文传输</a:t>
            </a:r>
            <a:endParaRPr lang="en-US" sz="900" dirty="0"/>
          </a:p>
        </p:txBody>
      </p:sp>
      <p:sp>
        <p:nvSpPr>
          <p:cNvPr id="16" name="Shape 13"/>
          <p:cNvSpPr/>
          <p:nvPr/>
        </p:nvSpPr>
        <p:spPr>
          <a:xfrm>
            <a:off x="7543800" y="1280160"/>
            <a:ext cx="731520" cy="731520"/>
          </a:xfrm>
          <a:prstGeom prst="ellipse">
            <a:avLst/>
          </a:prstGeom>
          <a:solidFill>
            <a:srgbClr val="9945FF"/>
          </a:solidFill>
          <a:ln/>
          <a:effectLst>
            <a:outerShdw sx="100000" sy="100000" kx="0" ky="0" algn="bl" rotWithShape="0" blurRad="101600" dist="38100" dir="8100000">
              <a:srgbClr val="000000">
                <a:alpha val="30000"/>
              </a:srgbClr>
            </a:outerShdw>
          </a:effectLst>
        </p:spPr>
      </p:sp>
      <p:sp>
        <p:nvSpPr>
          <p:cNvPr id="17" name="Text 14"/>
          <p:cNvSpPr/>
          <p:nvPr/>
        </p:nvSpPr>
        <p:spPr>
          <a:xfrm>
            <a:off x="7543800" y="1280160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Phone</a:t>
            </a:r>
            <a:endParaRPr lang="en-US" sz="1000" dirty="0"/>
          </a:p>
        </p:txBody>
      </p:sp>
      <p:sp>
        <p:nvSpPr>
          <p:cNvPr id="18" name="Text 15"/>
          <p:cNvSpPr/>
          <p:nvPr/>
        </p:nvSpPr>
        <p:spPr>
          <a:xfrm>
            <a:off x="7315200" y="2148840"/>
            <a:ext cx="1188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30000"/>
              </a:lnSpc>
              <a:buNone/>
            </a:pPr>
            <a:r>
              <a:rPr lang="en-US" sz="900" dirty="0">
                <a:solidFill>
                  <a:srgbClr val="C4C4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解密并展示</a:t>
            </a:r>
            <a:endParaRPr lang="en-US" sz="900" dirty="0"/>
          </a:p>
        </p:txBody>
      </p:sp>
      <p:sp>
        <p:nvSpPr>
          <p:cNvPr id="19" name="Text 16"/>
          <p:cNvSpPr/>
          <p:nvPr/>
        </p:nvSpPr>
        <p:spPr>
          <a:xfrm>
            <a:off x="1508760" y="141732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55556A"/>
                </a:solidFill>
              </a:rPr>
              <a:t>→</a:t>
            </a:r>
            <a:endParaRPr lang="en-US" sz="1800" dirty="0"/>
          </a:p>
        </p:txBody>
      </p:sp>
      <p:sp>
        <p:nvSpPr>
          <p:cNvPr id="20" name="Text 17"/>
          <p:cNvSpPr/>
          <p:nvPr/>
        </p:nvSpPr>
        <p:spPr>
          <a:xfrm>
            <a:off x="3429000" y="141732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55556A"/>
                </a:solidFill>
              </a:rPr>
              <a:t>→</a:t>
            </a:r>
            <a:endParaRPr lang="en-US" sz="1800" dirty="0"/>
          </a:p>
        </p:txBody>
      </p:sp>
      <p:sp>
        <p:nvSpPr>
          <p:cNvPr id="21" name="Text 18"/>
          <p:cNvSpPr/>
          <p:nvPr/>
        </p:nvSpPr>
        <p:spPr>
          <a:xfrm>
            <a:off x="5349240" y="141732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55556A"/>
                </a:solidFill>
              </a:rPr>
              <a:t>→</a:t>
            </a:r>
            <a:endParaRPr lang="en-US" sz="1800" dirty="0"/>
          </a:p>
        </p:txBody>
      </p:sp>
      <p:sp>
        <p:nvSpPr>
          <p:cNvPr id="22" name="Text 19"/>
          <p:cNvSpPr/>
          <p:nvPr/>
        </p:nvSpPr>
        <p:spPr>
          <a:xfrm>
            <a:off x="6720840" y="141732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55556A"/>
                </a:solidFill>
              </a:rPr>
              <a:t>→</a:t>
            </a:r>
            <a:endParaRPr lang="en-US" sz="1800" dirty="0"/>
          </a:p>
        </p:txBody>
      </p:sp>
      <p:sp>
        <p:nvSpPr>
          <p:cNvPr id="23" name="Shape 20"/>
          <p:cNvSpPr/>
          <p:nvPr/>
        </p:nvSpPr>
        <p:spPr>
          <a:xfrm>
            <a:off x="457200" y="3017520"/>
            <a:ext cx="8229600" cy="411480"/>
          </a:xfrm>
          <a:prstGeom prst="rect">
            <a:avLst/>
          </a:prstGeom>
          <a:solidFill>
            <a:srgbClr val="151829"/>
          </a:solidFill>
          <a:ln/>
        </p:spPr>
      </p:sp>
      <p:sp>
        <p:nvSpPr>
          <p:cNvPr id="24" name="Text 21"/>
          <p:cNvSpPr/>
          <p:nvPr/>
        </p:nvSpPr>
        <p:spPr>
          <a:xfrm>
            <a:off x="731520" y="3017520"/>
            <a:ext cx="1828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4F19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加密算法</a:t>
            </a:r>
            <a:endParaRPr lang="en-US" sz="1100" dirty="0"/>
          </a:p>
        </p:txBody>
      </p:sp>
      <p:sp>
        <p:nvSpPr>
          <p:cNvPr id="25" name="Text 22"/>
          <p:cNvSpPr/>
          <p:nvPr/>
        </p:nvSpPr>
        <p:spPr>
          <a:xfrm>
            <a:off x="2560320" y="3017520"/>
            <a:ext cx="5943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C4C4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JWE Authcrypt (X25519 key agreement)</a:t>
            </a:r>
            <a:endParaRPr lang="en-US" sz="1100" dirty="0"/>
          </a:p>
        </p:txBody>
      </p:sp>
      <p:sp>
        <p:nvSpPr>
          <p:cNvPr id="26" name="Shape 23"/>
          <p:cNvSpPr/>
          <p:nvPr/>
        </p:nvSpPr>
        <p:spPr>
          <a:xfrm>
            <a:off x="457200" y="3493008"/>
            <a:ext cx="8229600" cy="411480"/>
          </a:xfrm>
          <a:prstGeom prst="rect">
            <a:avLst/>
          </a:prstGeom>
          <a:solidFill>
            <a:srgbClr val="151829"/>
          </a:solidFill>
          <a:ln/>
        </p:spPr>
      </p:sp>
      <p:sp>
        <p:nvSpPr>
          <p:cNvPr id="27" name="Text 24"/>
          <p:cNvSpPr/>
          <p:nvPr/>
        </p:nvSpPr>
        <p:spPr>
          <a:xfrm>
            <a:off x="731520" y="3493008"/>
            <a:ext cx="1828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4F19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签名算法</a:t>
            </a:r>
            <a:endParaRPr lang="en-US" sz="1100" dirty="0"/>
          </a:p>
        </p:txBody>
      </p:sp>
      <p:sp>
        <p:nvSpPr>
          <p:cNvPr id="28" name="Text 25"/>
          <p:cNvSpPr/>
          <p:nvPr/>
        </p:nvSpPr>
        <p:spPr>
          <a:xfrm>
            <a:off x="2560320" y="3493008"/>
            <a:ext cx="5943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C4C4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Ed25519 签名</a:t>
            </a:r>
            <a:endParaRPr lang="en-US" sz="1100" dirty="0"/>
          </a:p>
        </p:txBody>
      </p:sp>
      <p:sp>
        <p:nvSpPr>
          <p:cNvPr id="29" name="Shape 26"/>
          <p:cNvSpPr/>
          <p:nvPr/>
        </p:nvSpPr>
        <p:spPr>
          <a:xfrm>
            <a:off x="457200" y="3968496"/>
            <a:ext cx="8229600" cy="411480"/>
          </a:xfrm>
          <a:prstGeom prst="rect">
            <a:avLst/>
          </a:prstGeom>
          <a:solidFill>
            <a:srgbClr val="151829"/>
          </a:solidFill>
          <a:ln/>
        </p:spPr>
      </p:sp>
      <p:sp>
        <p:nvSpPr>
          <p:cNvPr id="30" name="Text 27"/>
          <p:cNvSpPr/>
          <p:nvPr/>
        </p:nvSpPr>
        <p:spPr>
          <a:xfrm>
            <a:off x="731520" y="3968496"/>
            <a:ext cx="1828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4F19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身份标识</a:t>
            </a:r>
            <a:endParaRPr lang="en-US" sz="1100" dirty="0"/>
          </a:p>
        </p:txBody>
      </p:sp>
      <p:sp>
        <p:nvSpPr>
          <p:cNvPr id="31" name="Text 28"/>
          <p:cNvSpPr/>
          <p:nvPr/>
        </p:nvSpPr>
        <p:spPr>
          <a:xfrm>
            <a:off x="2560320" y="3968496"/>
            <a:ext cx="5943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C4C4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did:ignite:z6Mk... (Ed25519 多基数编码)</a:t>
            </a:r>
            <a:endParaRPr lang="en-US" sz="1100" dirty="0"/>
          </a:p>
        </p:txBody>
      </p:sp>
      <p:sp>
        <p:nvSpPr>
          <p:cNvPr id="32" name="Shape 29"/>
          <p:cNvSpPr/>
          <p:nvPr/>
        </p:nvSpPr>
        <p:spPr>
          <a:xfrm>
            <a:off x="457200" y="4443984"/>
            <a:ext cx="8229600" cy="411480"/>
          </a:xfrm>
          <a:prstGeom prst="rect">
            <a:avLst/>
          </a:prstGeom>
          <a:solidFill>
            <a:srgbClr val="151829"/>
          </a:solidFill>
          <a:ln/>
        </p:spPr>
      </p:sp>
      <p:sp>
        <p:nvSpPr>
          <p:cNvPr id="33" name="Text 30"/>
          <p:cNvSpPr/>
          <p:nvPr/>
        </p:nvSpPr>
        <p:spPr>
          <a:xfrm>
            <a:off x="731520" y="4443984"/>
            <a:ext cx="1828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4F19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中继安全</a:t>
            </a:r>
            <a:endParaRPr lang="en-US" sz="1100" dirty="0"/>
          </a:p>
        </p:txBody>
      </p:sp>
      <p:sp>
        <p:nvSpPr>
          <p:cNvPr id="34" name="Text 31"/>
          <p:cNvSpPr/>
          <p:nvPr/>
        </p:nvSpPr>
        <p:spPr>
          <a:xfrm>
            <a:off x="2560320" y="4443984"/>
            <a:ext cx="5943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C4C4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中继服务器零知识 — 只能看到密文</a:t>
            </a:r>
            <a:endParaRPr lang="en-US" sz="11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B0D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31520" y="320040"/>
            <a:ext cx="365760" cy="36576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1234440" y="320040"/>
            <a:ext cx="6400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六层风控体系</a:t>
            </a:r>
            <a:endParaRPr lang="en-US" sz="2400" dirty="0"/>
          </a:p>
        </p:txBody>
      </p:sp>
      <p:sp>
        <p:nvSpPr>
          <p:cNvPr id="4" name="Shape 1"/>
          <p:cNvSpPr/>
          <p:nvPr/>
        </p:nvSpPr>
        <p:spPr>
          <a:xfrm>
            <a:off x="457200" y="1051560"/>
            <a:ext cx="8229600" cy="594360"/>
          </a:xfrm>
          <a:prstGeom prst="rect">
            <a:avLst/>
          </a:prstGeom>
          <a:solidFill>
            <a:srgbClr val="151829"/>
          </a:solidFill>
          <a:ln/>
        </p:spPr>
      </p:sp>
      <p:sp>
        <p:nvSpPr>
          <p:cNvPr id="5" name="Shape 2"/>
          <p:cNvSpPr/>
          <p:nvPr/>
        </p:nvSpPr>
        <p:spPr>
          <a:xfrm>
            <a:off x="594360" y="1161288"/>
            <a:ext cx="502920" cy="365760"/>
          </a:xfrm>
          <a:prstGeom prst="rect">
            <a:avLst/>
          </a:prstGeom>
          <a:solidFill>
            <a:srgbClr val="EF4444"/>
          </a:solidFill>
          <a:ln/>
        </p:spPr>
      </p:sp>
      <p:sp>
        <p:nvSpPr>
          <p:cNvPr id="6" name="Text 3"/>
          <p:cNvSpPr/>
          <p:nvPr/>
        </p:nvSpPr>
        <p:spPr>
          <a:xfrm>
            <a:off x="594360" y="1161288"/>
            <a:ext cx="502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L1</a:t>
            </a:r>
            <a:endParaRPr lang="en-US" sz="1000" dirty="0"/>
          </a:p>
        </p:txBody>
      </p:sp>
      <p:sp>
        <p:nvSpPr>
          <p:cNvPr id="7" name="Text 4"/>
          <p:cNvSpPr/>
          <p:nvPr/>
        </p:nvSpPr>
        <p:spPr>
          <a:xfrm>
            <a:off x="1280160" y="1051560"/>
            <a:ext cx="20116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黑名单</a:t>
            </a:r>
            <a:endParaRPr lang="en-US" sz="1300" dirty="0"/>
          </a:p>
        </p:txBody>
      </p:sp>
      <p:sp>
        <p:nvSpPr>
          <p:cNvPr id="8" name="Text 5"/>
          <p:cNvSpPr/>
          <p:nvPr/>
        </p:nvSpPr>
        <p:spPr>
          <a:xfrm>
            <a:off x="3291840" y="1051560"/>
            <a:ext cx="29260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C4C4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商户在黑名单 → 直接拒绝</a:t>
            </a:r>
            <a:endParaRPr lang="en-US" sz="1100" dirty="0"/>
          </a:p>
        </p:txBody>
      </p:sp>
      <p:sp>
        <p:nvSpPr>
          <p:cNvPr id="9" name="Shape 6"/>
          <p:cNvSpPr/>
          <p:nvPr/>
        </p:nvSpPr>
        <p:spPr>
          <a:xfrm>
            <a:off x="6675120" y="1179576"/>
            <a:ext cx="1371600" cy="329184"/>
          </a:xfrm>
          <a:prstGeom prst="rect">
            <a:avLst/>
          </a:prstGeom>
          <a:solidFill>
            <a:srgbClr val="EF4444">
              <a:alpha val="20000"/>
            </a:srgbClr>
          </a:solidFill>
          <a:ln w="12700">
            <a:solidFill>
              <a:srgbClr val="EF4444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6675120" y="1179576"/>
            <a:ext cx="13716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EF444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REJECT</a:t>
            </a:r>
            <a:endParaRPr lang="en-US" sz="800" dirty="0"/>
          </a:p>
        </p:txBody>
      </p:sp>
      <p:sp>
        <p:nvSpPr>
          <p:cNvPr id="11" name="Shape 8"/>
          <p:cNvSpPr/>
          <p:nvPr/>
        </p:nvSpPr>
        <p:spPr>
          <a:xfrm>
            <a:off x="457200" y="1709928"/>
            <a:ext cx="8229600" cy="594360"/>
          </a:xfrm>
          <a:prstGeom prst="rect">
            <a:avLst/>
          </a:prstGeom>
          <a:solidFill>
            <a:srgbClr val="151829"/>
          </a:solidFill>
          <a:ln/>
        </p:spPr>
      </p:sp>
      <p:sp>
        <p:nvSpPr>
          <p:cNvPr id="12" name="Shape 9"/>
          <p:cNvSpPr/>
          <p:nvPr/>
        </p:nvSpPr>
        <p:spPr>
          <a:xfrm>
            <a:off x="594360" y="1819656"/>
            <a:ext cx="502920" cy="365760"/>
          </a:xfrm>
          <a:prstGeom prst="rect">
            <a:avLst/>
          </a:prstGeom>
          <a:solidFill>
            <a:srgbClr val="EF4444"/>
          </a:solidFill>
          <a:ln/>
        </p:spPr>
      </p:sp>
      <p:sp>
        <p:nvSpPr>
          <p:cNvPr id="13" name="Text 10"/>
          <p:cNvSpPr/>
          <p:nvPr/>
        </p:nvSpPr>
        <p:spPr>
          <a:xfrm>
            <a:off x="594360" y="1819656"/>
            <a:ext cx="502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L2</a:t>
            </a:r>
            <a:endParaRPr lang="en-US" sz="1000" dirty="0"/>
          </a:p>
        </p:txBody>
      </p:sp>
      <p:sp>
        <p:nvSpPr>
          <p:cNvPr id="14" name="Text 11"/>
          <p:cNvSpPr/>
          <p:nvPr/>
        </p:nvSpPr>
        <p:spPr>
          <a:xfrm>
            <a:off x="1280160" y="1709928"/>
            <a:ext cx="20116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IPFS CID 黑名单</a:t>
            </a:r>
            <a:endParaRPr lang="en-US" sz="1300" dirty="0"/>
          </a:p>
        </p:txBody>
      </p:sp>
      <p:sp>
        <p:nvSpPr>
          <p:cNvPr id="15" name="Text 12"/>
          <p:cNvSpPr/>
          <p:nvPr/>
        </p:nvSpPr>
        <p:spPr>
          <a:xfrm>
            <a:off x="3291840" y="1709928"/>
            <a:ext cx="29260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C4C4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内容哈希在黑名单 → 拒绝</a:t>
            </a:r>
            <a:endParaRPr lang="en-US" sz="1100" dirty="0"/>
          </a:p>
        </p:txBody>
      </p:sp>
      <p:sp>
        <p:nvSpPr>
          <p:cNvPr id="16" name="Shape 13"/>
          <p:cNvSpPr/>
          <p:nvPr/>
        </p:nvSpPr>
        <p:spPr>
          <a:xfrm>
            <a:off x="6675120" y="1837944"/>
            <a:ext cx="1371600" cy="329184"/>
          </a:xfrm>
          <a:prstGeom prst="rect">
            <a:avLst/>
          </a:prstGeom>
          <a:solidFill>
            <a:srgbClr val="EF4444">
              <a:alpha val="20000"/>
            </a:srgbClr>
          </a:solidFill>
          <a:ln w="12700">
            <a:solidFill>
              <a:srgbClr val="EF4444"/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6675120" y="1837944"/>
            <a:ext cx="13716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EF444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REJECT</a:t>
            </a:r>
            <a:endParaRPr lang="en-US" sz="800" dirty="0"/>
          </a:p>
        </p:txBody>
      </p:sp>
      <p:sp>
        <p:nvSpPr>
          <p:cNvPr id="18" name="Shape 15"/>
          <p:cNvSpPr/>
          <p:nvPr/>
        </p:nvSpPr>
        <p:spPr>
          <a:xfrm>
            <a:off x="457200" y="2368296"/>
            <a:ext cx="8229600" cy="594360"/>
          </a:xfrm>
          <a:prstGeom prst="rect">
            <a:avLst/>
          </a:prstGeom>
          <a:solidFill>
            <a:srgbClr val="151829"/>
          </a:solidFill>
          <a:ln/>
        </p:spPr>
      </p:sp>
      <p:sp>
        <p:nvSpPr>
          <p:cNvPr id="19" name="Shape 16"/>
          <p:cNvSpPr/>
          <p:nvPr/>
        </p:nvSpPr>
        <p:spPr>
          <a:xfrm>
            <a:off x="594360" y="2478024"/>
            <a:ext cx="502920" cy="365760"/>
          </a:xfrm>
          <a:prstGeom prst="rect">
            <a:avLst/>
          </a:prstGeom>
          <a:solidFill>
            <a:srgbClr val="F59E0B"/>
          </a:solidFill>
          <a:ln/>
        </p:spPr>
      </p:sp>
      <p:sp>
        <p:nvSpPr>
          <p:cNvPr id="20" name="Text 17"/>
          <p:cNvSpPr/>
          <p:nvPr/>
        </p:nvSpPr>
        <p:spPr>
          <a:xfrm>
            <a:off x="594360" y="2478024"/>
            <a:ext cx="502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L3</a:t>
            </a:r>
            <a:endParaRPr lang="en-US" sz="1000" dirty="0"/>
          </a:p>
        </p:txBody>
      </p:sp>
      <p:sp>
        <p:nvSpPr>
          <p:cNvPr id="21" name="Text 18"/>
          <p:cNvSpPr/>
          <p:nvPr/>
        </p:nvSpPr>
        <p:spPr>
          <a:xfrm>
            <a:off x="1280160" y="2368296"/>
            <a:ext cx="20116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单笔限额</a:t>
            </a:r>
            <a:endParaRPr lang="en-US" sz="1300" dirty="0"/>
          </a:p>
        </p:txBody>
      </p:sp>
      <p:sp>
        <p:nvSpPr>
          <p:cNvPr id="22" name="Text 19"/>
          <p:cNvSpPr/>
          <p:nvPr/>
        </p:nvSpPr>
        <p:spPr>
          <a:xfrm>
            <a:off x="3291840" y="2368296"/>
            <a:ext cx="29260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C4C4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金额超过配置阈值 → 需授权</a:t>
            </a:r>
            <a:endParaRPr lang="en-US" sz="1100" dirty="0"/>
          </a:p>
        </p:txBody>
      </p:sp>
      <p:sp>
        <p:nvSpPr>
          <p:cNvPr id="23" name="Shape 20"/>
          <p:cNvSpPr/>
          <p:nvPr/>
        </p:nvSpPr>
        <p:spPr>
          <a:xfrm>
            <a:off x="6675120" y="2496312"/>
            <a:ext cx="1371600" cy="329184"/>
          </a:xfrm>
          <a:prstGeom prst="rect">
            <a:avLst/>
          </a:prstGeom>
          <a:solidFill>
            <a:srgbClr val="F59E0B">
              <a:alpha val="20000"/>
            </a:srgbClr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24" name="Text 21"/>
          <p:cNvSpPr/>
          <p:nvPr/>
        </p:nvSpPr>
        <p:spPr>
          <a:xfrm>
            <a:off x="6675120" y="2496312"/>
            <a:ext cx="13716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59E0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AUTHORIZE</a:t>
            </a:r>
            <a:endParaRPr lang="en-US" sz="800" dirty="0"/>
          </a:p>
        </p:txBody>
      </p:sp>
      <p:sp>
        <p:nvSpPr>
          <p:cNvPr id="25" name="Shape 22"/>
          <p:cNvSpPr/>
          <p:nvPr/>
        </p:nvSpPr>
        <p:spPr>
          <a:xfrm>
            <a:off x="457200" y="3026664"/>
            <a:ext cx="8229600" cy="594360"/>
          </a:xfrm>
          <a:prstGeom prst="rect">
            <a:avLst/>
          </a:prstGeom>
          <a:solidFill>
            <a:srgbClr val="151829"/>
          </a:solidFill>
          <a:ln/>
        </p:spPr>
      </p:sp>
      <p:sp>
        <p:nvSpPr>
          <p:cNvPr id="26" name="Shape 23"/>
          <p:cNvSpPr/>
          <p:nvPr/>
        </p:nvSpPr>
        <p:spPr>
          <a:xfrm>
            <a:off x="594360" y="3136392"/>
            <a:ext cx="502920" cy="365760"/>
          </a:xfrm>
          <a:prstGeom prst="rect">
            <a:avLst/>
          </a:prstGeom>
          <a:solidFill>
            <a:srgbClr val="14F195"/>
          </a:solidFill>
          <a:ln/>
        </p:spPr>
      </p:sp>
      <p:sp>
        <p:nvSpPr>
          <p:cNvPr id="27" name="Text 24"/>
          <p:cNvSpPr/>
          <p:nvPr/>
        </p:nvSpPr>
        <p:spPr>
          <a:xfrm>
            <a:off x="594360" y="3136392"/>
            <a:ext cx="502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L4</a:t>
            </a:r>
            <a:endParaRPr lang="en-US" sz="1000" dirty="0"/>
          </a:p>
        </p:txBody>
      </p:sp>
      <p:sp>
        <p:nvSpPr>
          <p:cNvPr id="28" name="Text 25"/>
          <p:cNvSpPr/>
          <p:nvPr/>
        </p:nvSpPr>
        <p:spPr>
          <a:xfrm>
            <a:off x="1280160" y="3026664"/>
            <a:ext cx="20116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白名单自动通过</a:t>
            </a:r>
            <a:endParaRPr lang="en-US" sz="1300" dirty="0"/>
          </a:p>
        </p:txBody>
      </p:sp>
      <p:sp>
        <p:nvSpPr>
          <p:cNvPr id="29" name="Text 26"/>
          <p:cNvSpPr/>
          <p:nvPr/>
        </p:nvSpPr>
        <p:spPr>
          <a:xfrm>
            <a:off x="3291840" y="3026664"/>
            <a:ext cx="29260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C4C4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信任商户 + 额度内 → 自动批准</a:t>
            </a:r>
            <a:endParaRPr lang="en-US" sz="1100" dirty="0"/>
          </a:p>
        </p:txBody>
      </p:sp>
      <p:sp>
        <p:nvSpPr>
          <p:cNvPr id="30" name="Shape 27"/>
          <p:cNvSpPr/>
          <p:nvPr/>
        </p:nvSpPr>
        <p:spPr>
          <a:xfrm>
            <a:off x="6675120" y="3154680"/>
            <a:ext cx="1371600" cy="329184"/>
          </a:xfrm>
          <a:prstGeom prst="rect">
            <a:avLst/>
          </a:prstGeom>
          <a:solidFill>
            <a:srgbClr val="14F195">
              <a:alpha val="20000"/>
            </a:srgbClr>
          </a:solidFill>
          <a:ln w="12700">
            <a:solidFill>
              <a:srgbClr val="14F195"/>
            </a:solidFill>
            <a:prstDash val="solid"/>
          </a:ln>
        </p:spPr>
      </p:sp>
      <p:sp>
        <p:nvSpPr>
          <p:cNvPr id="31" name="Text 28"/>
          <p:cNvSpPr/>
          <p:nvPr/>
        </p:nvSpPr>
        <p:spPr>
          <a:xfrm>
            <a:off x="6675120" y="3154680"/>
            <a:ext cx="13716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14F19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AUTO APPROVE</a:t>
            </a:r>
            <a:endParaRPr lang="en-US" sz="800" dirty="0"/>
          </a:p>
        </p:txBody>
      </p:sp>
      <p:sp>
        <p:nvSpPr>
          <p:cNvPr id="32" name="Shape 29"/>
          <p:cNvSpPr/>
          <p:nvPr/>
        </p:nvSpPr>
        <p:spPr>
          <a:xfrm>
            <a:off x="457200" y="3685032"/>
            <a:ext cx="8229600" cy="594360"/>
          </a:xfrm>
          <a:prstGeom prst="rect">
            <a:avLst/>
          </a:prstGeom>
          <a:solidFill>
            <a:srgbClr val="151829"/>
          </a:solidFill>
          <a:ln/>
        </p:spPr>
      </p:sp>
      <p:sp>
        <p:nvSpPr>
          <p:cNvPr id="33" name="Shape 30"/>
          <p:cNvSpPr/>
          <p:nvPr/>
        </p:nvSpPr>
        <p:spPr>
          <a:xfrm>
            <a:off x="594360" y="3794760"/>
            <a:ext cx="502920" cy="365760"/>
          </a:xfrm>
          <a:prstGeom prst="rect">
            <a:avLst/>
          </a:prstGeom>
          <a:solidFill>
            <a:srgbClr val="14F195"/>
          </a:solidFill>
          <a:ln/>
        </p:spPr>
      </p:sp>
      <p:sp>
        <p:nvSpPr>
          <p:cNvPr id="34" name="Text 31"/>
          <p:cNvSpPr/>
          <p:nvPr/>
        </p:nvSpPr>
        <p:spPr>
          <a:xfrm>
            <a:off x="594360" y="3794760"/>
            <a:ext cx="502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L5</a:t>
            </a:r>
            <a:endParaRPr lang="en-US" sz="1000" dirty="0"/>
          </a:p>
        </p:txBody>
      </p:sp>
      <p:sp>
        <p:nvSpPr>
          <p:cNvPr id="35" name="Text 32"/>
          <p:cNvSpPr/>
          <p:nvPr/>
        </p:nvSpPr>
        <p:spPr>
          <a:xfrm>
            <a:off x="1280160" y="3685032"/>
            <a:ext cx="20116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IPFS CID 白名单</a:t>
            </a:r>
            <a:endParaRPr lang="en-US" sz="1300" dirty="0"/>
          </a:p>
        </p:txBody>
      </p:sp>
      <p:sp>
        <p:nvSpPr>
          <p:cNvPr id="36" name="Text 33"/>
          <p:cNvSpPr/>
          <p:nvPr/>
        </p:nvSpPr>
        <p:spPr>
          <a:xfrm>
            <a:off x="3291840" y="3685032"/>
            <a:ext cx="29260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C4C4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信任内容源 → 自动批准</a:t>
            </a:r>
            <a:endParaRPr lang="en-US" sz="1100" dirty="0"/>
          </a:p>
        </p:txBody>
      </p:sp>
      <p:sp>
        <p:nvSpPr>
          <p:cNvPr id="37" name="Shape 34"/>
          <p:cNvSpPr/>
          <p:nvPr/>
        </p:nvSpPr>
        <p:spPr>
          <a:xfrm>
            <a:off x="6675120" y="3813048"/>
            <a:ext cx="1371600" cy="329184"/>
          </a:xfrm>
          <a:prstGeom prst="rect">
            <a:avLst/>
          </a:prstGeom>
          <a:solidFill>
            <a:srgbClr val="14F195">
              <a:alpha val="20000"/>
            </a:srgbClr>
          </a:solidFill>
          <a:ln w="12700">
            <a:solidFill>
              <a:srgbClr val="14F195"/>
            </a:solidFill>
            <a:prstDash val="solid"/>
          </a:ln>
        </p:spPr>
      </p:sp>
      <p:sp>
        <p:nvSpPr>
          <p:cNvPr id="38" name="Text 35"/>
          <p:cNvSpPr/>
          <p:nvPr/>
        </p:nvSpPr>
        <p:spPr>
          <a:xfrm>
            <a:off x="6675120" y="3813048"/>
            <a:ext cx="13716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14F19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AUTO APPROVE</a:t>
            </a:r>
            <a:endParaRPr lang="en-US" sz="800" dirty="0"/>
          </a:p>
        </p:txBody>
      </p:sp>
      <p:sp>
        <p:nvSpPr>
          <p:cNvPr id="39" name="Shape 36"/>
          <p:cNvSpPr/>
          <p:nvPr/>
        </p:nvSpPr>
        <p:spPr>
          <a:xfrm>
            <a:off x="457200" y="4343400"/>
            <a:ext cx="8229600" cy="594360"/>
          </a:xfrm>
          <a:prstGeom prst="rect">
            <a:avLst/>
          </a:prstGeom>
          <a:solidFill>
            <a:srgbClr val="151829"/>
          </a:solidFill>
          <a:ln/>
        </p:spPr>
      </p:sp>
      <p:sp>
        <p:nvSpPr>
          <p:cNvPr id="40" name="Shape 37"/>
          <p:cNvSpPr/>
          <p:nvPr/>
        </p:nvSpPr>
        <p:spPr>
          <a:xfrm>
            <a:off x="594360" y="4453128"/>
            <a:ext cx="502920" cy="365760"/>
          </a:xfrm>
          <a:prstGeom prst="rect">
            <a:avLst/>
          </a:prstGeom>
          <a:solidFill>
            <a:srgbClr val="6366F1"/>
          </a:solidFill>
          <a:ln/>
        </p:spPr>
      </p:sp>
      <p:sp>
        <p:nvSpPr>
          <p:cNvPr id="41" name="Text 38"/>
          <p:cNvSpPr/>
          <p:nvPr/>
        </p:nvSpPr>
        <p:spPr>
          <a:xfrm>
            <a:off x="594360" y="4453128"/>
            <a:ext cx="502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L6</a:t>
            </a:r>
            <a:endParaRPr lang="en-US" sz="1000" dirty="0"/>
          </a:p>
        </p:txBody>
      </p:sp>
      <p:sp>
        <p:nvSpPr>
          <p:cNvPr id="42" name="Text 39"/>
          <p:cNvSpPr/>
          <p:nvPr/>
        </p:nvSpPr>
        <p:spPr>
          <a:xfrm>
            <a:off x="1280160" y="4343400"/>
            <a:ext cx="20116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默认推手机</a:t>
            </a:r>
            <a:endParaRPr lang="en-US" sz="1300" dirty="0"/>
          </a:p>
        </p:txBody>
      </p:sp>
      <p:sp>
        <p:nvSpPr>
          <p:cNvPr id="43" name="Text 40"/>
          <p:cNvSpPr/>
          <p:nvPr/>
        </p:nvSpPr>
        <p:spPr>
          <a:xfrm>
            <a:off x="3291840" y="4343400"/>
            <a:ext cx="29260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C4C4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不在任何名单 → 推送到手机授权</a:t>
            </a:r>
            <a:endParaRPr lang="en-US" sz="1100" dirty="0"/>
          </a:p>
        </p:txBody>
      </p:sp>
      <p:sp>
        <p:nvSpPr>
          <p:cNvPr id="44" name="Shape 41"/>
          <p:cNvSpPr/>
          <p:nvPr/>
        </p:nvSpPr>
        <p:spPr>
          <a:xfrm>
            <a:off x="6675120" y="4471416"/>
            <a:ext cx="1371600" cy="329184"/>
          </a:xfrm>
          <a:prstGeom prst="rect">
            <a:avLst/>
          </a:prstGeom>
          <a:solidFill>
            <a:srgbClr val="6366F1">
              <a:alpha val="20000"/>
            </a:srgbClr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45" name="Text 42"/>
          <p:cNvSpPr/>
          <p:nvPr/>
        </p:nvSpPr>
        <p:spPr>
          <a:xfrm>
            <a:off x="6675120" y="4471416"/>
            <a:ext cx="13716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6366F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AUTHORIZE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B0D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31520" y="320040"/>
            <a:ext cx="365760" cy="36576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1234440" y="320040"/>
            <a:ext cx="6400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未来规划</a:t>
            </a:r>
            <a:endParaRPr lang="en-US" sz="2400" dirty="0"/>
          </a:p>
        </p:txBody>
      </p:sp>
      <p:sp>
        <p:nvSpPr>
          <p:cNvPr id="4" name="Shape 1"/>
          <p:cNvSpPr/>
          <p:nvPr/>
        </p:nvSpPr>
        <p:spPr>
          <a:xfrm>
            <a:off x="6400800" y="365760"/>
            <a:ext cx="2286000" cy="320040"/>
          </a:xfrm>
          <a:prstGeom prst="rect">
            <a:avLst>
              <a:gd name="adj" fmla="val 14286"/>
            </a:avLst>
          </a:prstGeom>
          <a:solidFill>
            <a:srgbClr val="9945FF">
              <a:alpha val="30000"/>
            </a:srgbClr>
          </a:solidFill>
          <a:ln w="12700">
            <a:solidFill>
              <a:srgbClr val="9945FF"/>
            </a:solidFill>
            <a:prstDash val="solid"/>
          </a:ln>
        </p:spPr>
      </p:sp>
      <p:sp>
        <p:nvSpPr>
          <p:cNvPr id="5" name="Text 2"/>
          <p:cNvSpPr/>
          <p:nvPr/>
        </p:nvSpPr>
        <p:spPr>
          <a:xfrm>
            <a:off x="6400800" y="365760"/>
            <a:ext cx="2286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D4A0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ROADMAP</a:t>
            </a:r>
            <a:endParaRPr lang="en-US" sz="1000" dirty="0"/>
          </a:p>
        </p:txBody>
      </p:sp>
      <p:sp>
        <p:nvSpPr>
          <p:cNvPr id="6" name="Shape 3"/>
          <p:cNvSpPr/>
          <p:nvPr/>
        </p:nvSpPr>
        <p:spPr>
          <a:xfrm>
            <a:off x="457200" y="1097280"/>
            <a:ext cx="3931920" cy="3474720"/>
          </a:xfrm>
          <a:prstGeom prst="rect">
            <a:avLst/>
          </a:prstGeom>
          <a:solidFill>
            <a:srgbClr val="151829"/>
          </a:solidFill>
          <a:ln/>
          <a:effectLst>
            <a:outerShdw sx="100000" sy="100000" kx="0" ky="0" algn="bl" rotWithShape="0" blurRad="101600" dist="38100" dir="8100000">
              <a:srgbClr val="000000">
                <a:alpha val="30000"/>
              </a:srgbClr>
            </a:outerShdw>
          </a:effectLst>
        </p:spPr>
      </p:sp>
      <p:sp>
        <p:nvSpPr>
          <p:cNvPr id="7" name="Shape 4"/>
          <p:cNvSpPr/>
          <p:nvPr/>
        </p:nvSpPr>
        <p:spPr>
          <a:xfrm>
            <a:off x="457200" y="1097280"/>
            <a:ext cx="3931920" cy="54864"/>
          </a:xfrm>
          <a:prstGeom prst="rect">
            <a:avLst/>
          </a:prstGeom>
          <a:solidFill>
            <a:srgbClr val="9945FF"/>
          </a:solidFill>
          <a:ln/>
        </p:spPr>
      </p:sp>
      <p:sp>
        <p:nvSpPr>
          <p:cNvPr id="8" name="Text 5"/>
          <p:cNvSpPr/>
          <p:nvPr/>
        </p:nvSpPr>
        <p:spPr>
          <a:xfrm>
            <a:off x="731520" y="1325880"/>
            <a:ext cx="3383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D4A0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ZK Compression DID 注册表</a:t>
            </a:r>
            <a:endParaRPr lang="en-US" sz="1500" dirty="0"/>
          </a:p>
        </p:txBody>
      </p:sp>
      <p:sp>
        <p:nvSpPr>
          <p:cNvPr id="9" name="Text 6"/>
          <p:cNvSpPr/>
          <p:nvPr/>
        </p:nvSpPr>
        <p:spPr>
          <a:xfrm>
            <a:off x="731520" y="1828800"/>
            <a:ext cx="33832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基于 ZK Compression 的链上 DID 存储</a:t>
            </a:r>
            <a:endParaRPr lang="en-US" sz="11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大幅降低链上存储成本</a:t>
            </a:r>
            <a:endParaRPr lang="en-US" sz="11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支持海量 DID 身份注册</a:t>
            </a:r>
            <a:endParaRPr lang="en-US" sz="11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保持 Solana 链上验证的安全性</a:t>
            </a:r>
            <a:endParaRPr lang="en-US" sz="1100" dirty="0"/>
          </a:p>
        </p:txBody>
      </p:sp>
      <p:sp>
        <p:nvSpPr>
          <p:cNvPr id="10" name="Text 7"/>
          <p:cNvSpPr/>
          <p:nvPr/>
        </p:nvSpPr>
        <p:spPr>
          <a:xfrm>
            <a:off x="731520" y="3474720"/>
            <a:ext cx="3383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888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适用场景：大规模身份注册、低成本 DID 管理</a:t>
            </a:r>
            <a:endParaRPr lang="en-US" sz="900" dirty="0"/>
          </a:p>
        </p:txBody>
      </p:sp>
      <p:sp>
        <p:nvSpPr>
          <p:cNvPr id="11" name="Shape 8"/>
          <p:cNvSpPr/>
          <p:nvPr/>
        </p:nvSpPr>
        <p:spPr>
          <a:xfrm>
            <a:off x="4754880" y="1097280"/>
            <a:ext cx="3931920" cy="3474720"/>
          </a:xfrm>
          <a:prstGeom prst="rect">
            <a:avLst/>
          </a:prstGeom>
          <a:solidFill>
            <a:srgbClr val="151829"/>
          </a:solidFill>
          <a:ln/>
          <a:effectLst>
            <a:outerShdw sx="100000" sy="100000" kx="0" ky="0" algn="bl" rotWithShape="0" blurRad="101600" dist="38100" dir="8100000">
              <a:srgbClr val="000000">
                <a:alpha val="30000"/>
              </a:srgbClr>
            </a:outerShdw>
          </a:effectLst>
        </p:spPr>
      </p:sp>
      <p:sp>
        <p:nvSpPr>
          <p:cNvPr id="12" name="Shape 9"/>
          <p:cNvSpPr/>
          <p:nvPr/>
        </p:nvSpPr>
        <p:spPr>
          <a:xfrm>
            <a:off x="4754880" y="1097280"/>
            <a:ext cx="3931920" cy="54864"/>
          </a:xfrm>
          <a:prstGeom prst="rect">
            <a:avLst/>
          </a:prstGeom>
          <a:solidFill>
            <a:srgbClr val="14F195"/>
          </a:solidFill>
          <a:ln/>
        </p:spPr>
      </p:sp>
      <p:sp>
        <p:nvSpPr>
          <p:cNvPr id="13" name="Text 10"/>
          <p:cNvSpPr/>
          <p:nvPr/>
        </p:nvSpPr>
        <p:spPr>
          <a:xfrm>
            <a:off x="5029200" y="1325880"/>
            <a:ext cx="3383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4F19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状态通道（State Channel, UTXO 模式）</a:t>
            </a:r>
            <a:endParaRPr lang="en-US" sz="1400" dirty="0"/>
          </a:p>
        </p:txBody>
      </p:sp>
      <p:sp>
        <p:nvSpPr>
          <p:cNvPr id="14" name="Text 11"/>
          <p:cNvSpPr/>
          <p:nvPr/>
        </p:nvSpPr>
        <p:spPr>
          <a:xfrm>
            <a:off x="5029200" y="1828800"/>
            <a:ext cx="33832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基于 UTXO 模型的双向支付通道</a:t>
            </a:r>
            <a:endParaRPr lang="en-US" sz="11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链下实时交易，链上最终结算</a:t>
            </a:r>
            <a:endParaRPr lang="en-US" sz="11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支持复杂支付条件与多跳路由</a:t>
            </a:r>
            <a:endParaRPr lang="en-US" sz="11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Hub 中介模式，用户无需直接开通道</a:t>
            </a:r>
            <a:endParaRPr lang="en-US" sz="1100" dirty="0"/>
          </a:p>
        </p:txBody>
      </p:sp>
      <p:sp>
        <p:nvSpPr>
          <p:cNvPr id="15" name="Text 12"/>
          <p:cNvSpPr/>
          <p:nvPr/>
        </p:nvSpPr>
        <p:spPr>
          <a:xfrm>
            <a:off x="5029200" y="3474720"/>
            <a:ext cx="3383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888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适用场景：高频点对点支付、IoT 设备结算、实时流支付</a:t>
            </a:r>
            <a:endParaRPr lang="en-US" sz="900" dirty="0"/>
          </a:p>
        </p:txBody>
      </p:sp>
      <p:sp>
        <p:nvSpPr>
          <p:cNvPr id="16" name="Shape 13"/>
          <p:cNvSpPr/>
          <p:nvPr/>
        </p:nvSpPr>
        <p:spPr>
          <a:xfrm>
            <a:off x="457200" y="4709160"/>
            <a:ext cx="8229600" cy="320040"/>
          </a:xfrm>
          <a:prstGeom prst="rect">
            <a:avLst/>
          </a:prstGeom>
          <a:solidFill>
            <a:srgbClr val="1C2039"/>
          </a:solidFill>
          <a:ln/>
        </p:spPr>
      </p:sp>
      <p:sp>
        <p:nvSpPr>
          <p:cNvPr id="17" name="Text 14"/>
          <p:cNvSpPr/>
          <p:nvPr/>
        </p:nvSpPr>
        <p:spPr>
          <a:xfrm>
            <a:off x="731520" y="4709160"/>
            <a:ext cx="7772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888A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当前未使用，未来考虑集成。架构已预留接口。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0B0D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31520" y="320040"/>
            <a:ext cx="365760" cy="36576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1234440" y="320040"/>
            <a:ext cx="6400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CCTP 跨链 USDC 充值</a:t>
            </a:r>
            <a:endParaRPr lang="en-US" sz="2400" dirty="0"/>
          </a:p>
        </p:txBody>
      </p:sp>
      <p:sp>
        <p:nvSpPr>
          <p:cNvPr id="4" name="Shape 1"/>
          <p:cNvSpPr/>
          <p:nvPr/>
        </p:nvSpPr>
        <p:spPr>
          <a:xfrm>
            <a:off x="685800" y="1188720"/>
            <a:ext cx="731520" cy="731520"/>
          </a:xfrm>
          <a:prstGeom prst="ellipse">
            <a:avLst/>
          </a:prstGeom>
          <a:solidFill>
            <a:srgbClr val="151829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" name="Text 2"/>
          <p:cNvSpPr/>
          <p:nvPr/>
        </p:nvSpPr>
        <p:spPr>
          <a:xfrm>
            <a:off x="685800" y="1188720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366F1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ETH</a:t>
            </a:r>
            <a:endParaRPr lang="en-US" sz="1000" dirty="0"/>
          </a:p>
        </p:txBody>
      </p:sp>
      <p:sp>
        <p:nvSpPr>
          <p:cNvPr id="6" name="Text 3"/>
          <p:cNvSpPr/>
          <p:nvPr/>
        </p:nvSpPr>
        <p:spPr>
          <a:xfrm>
            <a:off x="457200" y="2011680"/>
            <a:ext cx="11887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888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Ethereum</a:t>
            </a:r>
            <a:endParaRPr lang="en-US" sz="900" dirty="0"/>
          </a:p>
        </p:txBody>
      </p:sp>
      <p:sp>
        <p:nvSpPr>
          <p:cNvPr id="7" name="Shape 4"/>
          <p:cNvSpPr/>
          <p:nvPr/>
        </p:nvSpPr>
        <p:spPr>
          <a:xfrm>
            <a:off x="2423160" y="1188720"/>
            <a:ext cx="731520" cy="731520"/>
          </a:xfrm>
          <a:prstGeom prst="ellipse">
            <a:avLst/>
          </a:prstGeom>
          <a:solidFill>
            <a:srgbClr val="151829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2423160" y="1188720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366F1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BAS</a:t>
            </a:r>
            <a:endParaRPr lang="en-US" sz="1000" dirty="0"/>
          </a:p>
        </p:txBody>
      </p:sp>
      <p:sp>
        <p:nvSpPr>
          <p:cNvPr id="9" name="Text 6"/>
          <p:cNvSpPr/>
          <p:nvPr/>
        </p:nvSpPr>
        <p:spPr>
          <a:xfrm>
            <a:off x="2194560" y="2011680"/>
            <a:ext cx="11887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888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Base</a:t>
            </a:r>
            <a:endParaRPr lang="en-US" sz="900" dirty="0"/>
          </a:p>
        </p:txBody>
      </p:sp>
      <p:sp>
        <p:nvSpPr>
          <p:cNvPr id="10" name="Shape 7"/>
          <p:cNvSpPr/>
          <p:nvPr/>
        </p:nvSpPr>
        <p:spPr>
          <a:xfrm>
            <a:off x="4160520" y="1188720"/>
            <a:ext cx="731520" cy="731520"/>
          </a:xfrm>
          <a:prstGeom prst="ellipse">
            <a:avLst/>
          </a:prstGeom>
          <a:solidFill>
            <a:srgbClr val="151829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4160520" y="1188720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366F1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ARB</a:t>
            </a:r>
            <a:endParaRPr lang="en-US" sz="1000" dirty="0"/>
          </a:p>
        </p:txBody>
      </p:sp>
      <p:sp>
        <p:nvSpPr>
          <p:cNvPr id="12" name="Text 9"/>
          <p:cNvSpPr/>
          <p:nvPr/>
        </p:nvSpPr>
        <p:spPr>
          <a:xfrm>
            <a:off x="3931920" y="2011680"/>
            <a:ext cx="11887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888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Arbitrum</a:t>
            </a:r>
            <a:endParaRPr lang="en-US" sz="900" dirty="0"/>
          </a:p>
        </p:txBody>
      </p:sp>
      <p:sp>
        <p:nvSpPr>
          <p:cNvPr id="13" name="Shape 10"/>
          <p:cNvSpPr/>
          <p:nvPr/>
        </p:nvSpPr>
        <p:spPr>
          <a:xfrm>
            <a:off x="5897880" y="1188720"/>
            <a:ext cx="731520" cy="731520"/>
          </a:xfrm>
          <a:prstGeom prst="ellipse">
            <a:avLst/>
          </a:prstGeom>
          <a:solidFill>
            <a:srgbClr val="151829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5897880" y="1188720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366F1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OPT</a:t>
            </a:r>
            <a:endParaRPr lang="en-US" sz="1000" dirty="0"/>
          </a:p>
        </p:txBody>
      </p:sp>
      <p:sp>
        <p:nvSpPr>
          <p:cNvPr id="15" name="Text 12"/>
          <p:cNvSpPr/>
          <p:nvPr/>
        </p:nvSpPr>
        <p:spPr>
          <a:xfrm>
            <a:off x="5669280" y="2011680"/>
            <a:ext cx="11887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888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Optimism</a:t>
            </a:r>
            <a:endParaRPr lang="en-US" sz="900" dirty="0"/>
          </a:p>
        </p:txBody>
      </p:sp>
      <p:sp>
        <p:nvSpPr>
          <p:cNvPr id="16" name="Text 13"/>
          <p:cNvSpPr/>
          <p:nvPr/>
        </p:nvSpPr>
        <p:spPr>
          <a:xfrm>
            <a:off x="2743200" y="246888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14F19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→  Circle CCTP V2  →</a:t>
            </a:r>
            <a:endParaRPr lang="en-US" sz="1400" dirty="0"/>
          </a:p>
        </p:txBody>
      </p:sp>
      <p:sp>
        <p:nvSpPr>
          <p:cNvPr id="17" name="Shape 14"/>
          <p:cNvSpPr/>
          <p:nvPr/>
        </p:nvSpPr>
        <p:spPr>
          <a:xfrm>
            <a:off x="3749040" y="3017520"/>
            <a:ext cx="1645920" cy="914400"/>
          </a:xfrm>
          <a:prstGeom prst="ellipse">
            <a:avLst/>
          </a:prstGeom>
          <a:solidFill>
            <a:srgbClr val="151829"/>
          </a:solidFill>
          <a:ln w="25400">
            <a:solidFill>
              <a:srgbClr val="14F195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3749040" y="3017520"/>
            <a:ext cx="16459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14F195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Solana</a:t>
            </a:r>
            <a:endParaRPr lang="en-US" sz="1400" dirty="0"/>
          </a:p>
          <a:p>
            <a:pPr algn="ctr" indent="0" marL="0">
              <a:buNone/>
            </a:pPr>
            <a:r>
              <a:rPr lang="en-US" sz="1400" dirty="0">
                <a:solidFill>
                  <a:srgbClr val="14F195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USDC</a:t>
            </a:r>
            <a:endParaRPr lang="en-US" sz="1400" dirty="0"/>
          </a:p>
        </p:txBody>
      </p:sp>
      <p:sp>
        <p:nvSpPr>
          <p:cNvPr id="19" name="Text 16"/>
          <p:cNvSpPr/>
          <p:nvPr/>
        </p:nvSpPr>
        <p:spPr>
          <a:xfrm>
            <a:off x="1371600" y="411480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4F19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一键操作</a:t>
            </a:r>
            <a:endParaRPr lang="en-US" sz="1000" dirty="0"/>
          </a:p>
        </p:txBody>
      </p:sp>
      <p:sp>
        <p:nvSpPr>
          <p:cNvPr id="20" name="Text 17"/>
          <p:cNvSpPr/>
          <p:nvPr/>
        </p:nvSpPr>
        <p:spPr>
          <a:xfrm>
            <a:off x="2743200" y="411480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C4C4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用户在源链用 MetaMask 签名</a:t>
            </a:r>
            <a:endParaRPr lang="en-US" sz="1000" dirty="0"/>
          </a:p>
        </p:txBody>
      </p:sp>
      <p:sp>
        <p:nvSpPr>
          <p:cNvPr id="21" name="Text 18"/>
          <p:cNvSpPr/>
          <p:nvPr/>
        </p:nvSpPr>
        <p:spPr>
          <a:xfrm>
            <a:off x="1371600" y="4407408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4F19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原生铸造</a:t>
            </a:r>
            <a:endParaRPr lang="en-US" sz="1000" dirty="0"/>
          </a:p>
        </p:txBody>
      </p:sp>
      <p:sp>
        <p:nvSpPr>
          <p:cNvPr id="22" name="Text 19"/>
          <p:cNvSpPr/>
          <p:nvPr/>
        </p:nvSpPr>
        <p:spPr>
          <a:xfrm>
            <a:off x="2743200" y="4407408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C4C4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Circle 在 Solana 上铸造等量 USDC</a:t>
            </a:r>
            <a:endParaRPr lang="en-US" sz="1000" dirty="0"/>
          </a:p>
        </p:txBody>
      </p:sp>
      <p:sp>
        <p:nvSpPr>
          <p:cNvPr id="23" name="Text 20"/>
          <p:cNvSpPr/>
          <p:nvPr/>
        </p:nvSpPr>
        <p:spPr>
          <a:xfrm>
            <a:off x="1371600" y="4700016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4F19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10-30 分钟</a:t>
            </a:r>
            <a:endParaRPr lang="en-US" sz="1000" dirty="0"/>
          </a:p>
        </p:txBody>
      </p:sp>
      <p:sp>
        <p:nvSpPr>
          <p:cNvPr id="24" name="Text 21"/>
          <p:cNvSpPr/>
          <p:nvPr/>
        </p:nvSpPr>
        <p:spPr>
          <a:xfrm>
            <a:off x="2743200" y="4700016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C4C4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跨链确认时间</a:t>
            </a:r>
            <a:endParaRPr lang="en-US" sz="10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0B0D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27432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spc="400" kern="0" dirty="0">
                <a:solidFill>
                  <a:srgbClr val="14F19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TECH STACK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731520" y="548640"/>
            <a:ext cx="7315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技术亮点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274320" y="1280160"/>
            <a:ext cx="2057400" cy="2194560"/>
          </a:xfrm>
          <a:prstGeom prst="rect">
            <a:avLst/>
          </a:prstGeom>
          <a:solidFill>
            <a:srgbClr val="151829"/>
          </a:solidFill>
          <a:ln/>
          <a:effectLst>
            <a:outerShdw sx="100000" sy="100000" kx="0" ky="0" algn="bl" rotWithShape="0" blurRad="101600" dist="38100" dir="8100000">
              <a:srgbClr val="000000">
                <a:alpha val="30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457200" y="1463040"/>
            <a:ext cx="1691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dirty="0">
                <a:solidFill>
                  <a:srgbClr val="14F195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22</a:t>
            </a:r>
            <a:endParaRPr lang="en-US" sz="3600" dirty="0"/>
          </a:p>
        </p:txBody>
      </p:sp>
      <p:sp>
        <p:nvSpPr>
          <p:cNvPr id="6" name="Text 4"/>
          <p:cNvSpPr/>
          <p:nvPr/>
        </p:nvSpPr>
        <p:spPr>
          <a:xfrm>
            <a:off x="457200" y="2103120"/>
            <a:ext cx="1691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Rust Crates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457200" y="2468880"/>
            <a:ext cx="16916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40000"/>
              </a:lnSpc>
              <a:buNone/>
            </a:pPr>
            <a:r>
              <a:rPr lang="en-US" sz="900" dirty="0">
                <a:solidFill>
                  <a:srgbClr val="8888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核心库 / 链上程序 / SDK / MCP / 移动端桥接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2468880" y="1280160"/>
            <a:ext cx="2057400" cy="2194560"/>
          </a:xfrm>
          <a:prstGeom prst="rect">
            <a:avLst/>
          </a:prstGeom>
          <a:solidFill>
            <a:srgbClr val="151829"/>
          </a:solidFill>
          <a:ln/>
          <a:effectLst>
            <a:outerShdw sx="100000" sy="100000" kx="0" ky="0" algn="bl" rotWithShape="0" blurRad="101600" dist="38100" dir="8100000">
              <a:srgbClr val="000000">
                <a:alpha val="30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2651760" y="1463040"/>
            <a:ext cx="1691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dirty="0">
                <a:solidFill>
                  <a:srgbClr val="14F195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39</a:t>
            </a:r>
            <a:endParaRPr lang="en-US" sz="3600" dirty="0"/>
          </a:p>
        </p:txBody>
      </p:sp>
      <p:sp>
        <p:nvSpPr>
          <p:cNvPr id="10" name="Text 8"/>
          <p:cNvSpPr/>
          <p:nvPr/>
        </p:nvSpPr>
        <p:spPr>
          <a:xfrm>
            <a:off x="2651760" y="2103120"/>
            <a:ext cx="1691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MCP Tools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2651760" y="2468880"/>
            <a:ext cx="16916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40000"/>
              </a:lnSpc>
              <a:buNone/>
            </a:pPr>
            <a:r>
              <a:rPr lang="en-US" sz="900" dirty="0">
                <a:solidFill>
                  <a:srgbClr val="8888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买家 23 个 + 商户 16 个工具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4663440" y="1280160"/>
            <a:ext cx="2057400" cy="2194560"/>
          </a:xfrm>
          <a:prstGeom prst="rect">
            <a:avLst/>
          </a:prstGeom>
          <a:solidFill>
            <a:srgbClr val="151829"/>
          </a:solidFill>
          <a:ln/>
          <a:effectLst>
            <a:outerShdw sx="100000" sy="100000" kx="0" ky="0" algn="bl" rotWithShape="0" blurRad="101600" dist="38100" dir="8100000">
              <a:srgbClr val="000000">
                <a:alpha val="30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4846320" y="1463040"/>
            <a:ext cx="1691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dirty="0">
                <a:solidFill>
                  <a:srgbClr val="14F195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3</a:t>
            </a:r>
            <a:endParaRPr lang="en-US" sz="3600" dirty="0"/>
          </a:p>
        </p:txBody>
      </p:sp>
      <p:sp>
        <p:nvSpPr>
          <p:cNvPr id="14" name="Text 12"/>
          <p:cNvSpPr/>
          <p:nvPr/>
        </p:nvSpPr>
        <p:spPr>
          <a:xfrm>
            <a:off x="4846320" y="2103120"/>
            <a:ext cx="1691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Solana Programs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4846320" y="2468880"/>
            <a:ext cx="16916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40000"/>
              </a:lnSpc>
              <a:buNone/>
            </a:pPr>
            <a:r>
              <a:rPr lang="en-US" sz="900" dirty="0">
                <a:solidFill>
                  <a:srgbClr val="8888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DID (6 指令) / Session Key (5) / MagicBlock (11)</a:t>
            </a:r>
            <a:endParaRPr lang="en-US" sz="900" dirty="0"/>
          </a:p>
        </p:txBody>
      </p:sp>
      <p:sp>
        <p:nvSpPr>
          <p:cNvPr id="16" name="Shape 14"/>
          <p:cNvSpPr/>
          <p:nvPr/>
        </p:nvSpPr>
        <p:spPr>
          <a:xfrm>
            <a:off x="6858000" y="1280160"/>
            <a:ext cx="2057400" cy="2194560"/>
          </a:xfrm>
          <a:prstGeom prst="rect">
            <a:avLst/>
          </a:prstGeom>
          <a:solidFill>
            <a:srgbClr val="151829"/>
          </a:solidFill>
          <a:ln/>
          <a:effectLst>
            <a:outerShdw sx="100000" sy="100000" kx="0" ky="0" algn="bl" rotWithShape="0" blurRad="101600" dist="38100" dir="8100000">
              <a:srgbClr val="000000">
                <a:alpha val="30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7040880" y="1463040"/>
            <a:ext cx="1691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dirty="0">
                <a:solidFill>
                  <a:srgbClr val="14F195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2</a:t>
            </a:r>
            <a:endParaRPr lang="en-US" sz="3600" dirty="0"/>
          </a:p>
        </p:txBody>
      </p:sp>
      <p:sp>
        <p:nvSpPr>
          <p:cNvPr id="18" name="Text 16"/>
          <p:cNvSpPr/>
          <p:nvPr/>
        </p:nvSpPr>
        <p:spPr>
          <a:xfrm>
            <a:off x="7040880" y="2103120"/>
            <a:ext cx="1691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Mobile Apps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7040880" y="2468880"/>
            <a:ext cx="16916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40000"/>
              </a:lnSpc>
              <a:buNone/>
            </a:pPr>
            <a:r>
              <a:rPr lang="en-US" sz="900" dirty="0">
                <a:solidFill>
                  <a:srgbClr val="8888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Flutter + Rust Bridge 共享加密逻辑</a:t>
            </a:r>
            <a:endParaRPr lang="en-US" sz="900" dirty="0"/>
          </a:p>
        </p:txBody>
      </p:sp>
      <p:sp>
        <p:nvSpPr>
          <p:cNvPr id="20" name="Shape 18"/>
          <p:cNvSpPr/>
          <p:nvPr/>
        </p:nvSpPr>
        <p:spPr>
          <a:xfrm>
            <a:off x="457200" y="3840480"/>
            <a:ext cx="8229600" cy="914400"/>
          </a:xfrm>
          <a:prstGeom prst="rect">
            <a:avLst/>
          </a:prstGeom>
          <a:solidFill>
            <a:srgbClr val="151829"/>
          </a:solidFill>
          <a:ln/>
        </p:spPr>
      </p:sp>
      <p:sp>
        <p:nvSpPr>
          <p:cNvPr id="21" name="Shape 19"/>
          <p:cNvSpPr/>
          <p:nvPr/>
        </p:nvSpPr>
        <p:spPr>
          <a:xfrm>
            <a:off x="640080" y="3977640"/>
            <a:ext cx="1188720" cy="274320"/>
          </a:xfrm>
          <a:prstGeom prst="rect">
            <a:avLst>
              <a:gd name="adj" fmla="val 16667"/>
            </a:avLst>
          </a:prstGeom>
          <a:solidFill>
            <a:srgbClr val="1C2039"/>
          </a:solidFill>
          <a:ln w="6350">
            <a:solidFill>
              <a:srgbClr val="9945FF">
                <a:alpha val="40000"/>
              </a:srgbClr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640080" y="3977640"/>
            <a:ext cx="1188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D4A0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Axum 0.8</a:t>
            </a:r>
            <a:endParaRPr lang="en-US" sz="800" dirty="0"/>
          </a:p>
        </p:txBody>
      </p:sp>
      <p:sp>
        <p:nvSpPr>
          <p:cNvPr id="23" name="Shape 21"/>
          <p:cNvSpPr/>
          <p:nvPr/>
        </p:nvSpPr>
        <p:spPr>
          <a:xfrm>
            <a:off x="1920240" y="3977640"/>
            <a:ext cx="1188720" cy="274320"/>
          </a:xfrm>
          <a:prstGeom prst="rect">
            <a:avLst>
              <a:gd name="adj" fmla="val 16667"/>
            </a:avLst>
          </a:prstGeom>
          <a:solidFill>
            <a:srgbClr val="1C2039"/>
          </a:solidFill>
          <a:ln w="6350">
            <a:solidFill>
              <a:srgbClr val="9945FF">
                <a:alpha val="40000"/>
              </a:srgbClr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1920240" y="3977640"/>
            <a:ext cx="1188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D4A0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tokio</a:t>
            </a:r>
            <a:endParaRPr lang="en-US" sz="800" dirty="0"/>
          </a:p>
        </p:txBody>
      </p:sp>
      <p:sp>
        <p:nvSpPr>
          <p:cNvPr id="25" name="Shape 23"/>
          <p:cNvSpPr/>
          <p:nvPr/>
        </p:nvSpPr>
        <p:spPr>
          <a:xfrm>
            <a:off x="3200400" y="3977640"/>
            <a:ext cx="1188720" cy="274320"/>
          </a:xfrm>
          <a:prstGeom prst="rect">
            <a:avLst>
              <a:gd name="adj" fmla="val 16667"/>
            </a:avLst>
          </a:prstGeom>
          <a:solidFill>
            <a:srgbClr val="1C2039"/>
          </a:solidFill>
          <a:ln w="6350">
            <a:solidFill>
              <a:srgbClr val="9945FF">
                <a:alpha val="40000"/>
              </a:srgbClr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200400" y="3977640"/>
            <a:ext cx="1188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D4A0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sled</a:t>
            </a:r>
            <a:endParaRPr lang="en-US" sz="800" dirty="0"/>
          </a:p>
        </p:txBody>
      </p:sp>
      <p:sp>
        <p:nvSpPr>
          <p:cNvPr id="27" name="Shape 25"/>
          <p:cNvSpPr/>
          <p:nvPr/>
        </p:nvSpPr>
        <p:spPr>
          <a:xfrm>
            <a:off x="4480560" y="3977640"/>
            <a:ext cx="1188720" cy="274320"/>
          </a:xfrm>
          <a:prstGeom prst="rect">
            <a:avLst>
              <a:gd name="adj" fmla="val 16667"/>
            </a:avLst>
          </a:prstGeom>
          <a:solidFill>
            <a:srgbClr val="1C2039"/>
          </a:solidFill>
          <a:ln w="6350">
            <a:solidFill>
              <a:srgbClr val="9945FF">
                <a:alpha val="40000"/>
              </a:srgbClr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4480560" y="3977640"/>
            <a:ext cx="1188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D4A0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Anchor</a:t>
            </a:r>
            <a:endParaRPr lang="en-US" sz="800" dirty="0"/>
          </a:p>
        </p:txBody>
      </p:sp>
      <p:sp>
        <p:nvSpPr>
          <p:cNvPr id="29" name="Shape 27"/>
          <p:cNvSpPr/>
          <p:nvPr/>
        </p:nvSpPr>
        <p:spPr>
          <a:xfrm>
            <a:off x="5760720" y="3977640"/>
            <a:ext cx="1188720" cy="274320"/>
          </a:xfrm>
          <a:prstGeom prst="rect">
            <a:avLst>
              <a:gd name="adj" fmla="val 16667"/>
            </a:avLst>
          </a:prstGeom>
          <a:solidFill>
            <a:srgbClr val="1C2039"/>
          </a:solidFill>
          <a:ln w="6350">
            <a:solidFill>
              <a:srgbClr val="9945FF">
                <a:alpha val="40000"/>
              </a:srgbClr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5760720" y="3977640"/>
            <a:ext cx="1188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D4A0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Flutter</a:t>
            </a:r>
            <a:endParaRPr lang="en-US" sz="800" dirty="0"/>
          </a:p>
        </p:txBody>
      </p:sp>
      <p:sp>
        <p:nvSpPr>
          <p:cNvPr id="31" name="Shape 29"/>
          <p:cNvSpPr/>
          <p:nvPr/>
        </p:nvSpPr>
        <p:spPr>
          <a:xfrm>
            <a:off x="7040880" y="3977640"/>
            <a:ext cx="1188720" cy="274320"/>
          </a:xfrm>
          <a:prstGeom prst="rect">
            <a:avLst>
              <a:gd name="adj" fmla="val 16667"/>
            </a:avLst>
          </a:prstGeom>
          <a:solidFill>
            <a:srgbClr val="1C2039"/>
          </a:solidFill>
          <a:ln w="6350">
            <a:solidFill>
              <a:srgbClr val="9945FF">
                <a:alpha val="40000"/>
              </a:srgbClr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7040880" y="3977640"/>
            <a:ext cx="1188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D4A0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Rust Bridge</a:t>
            </a:r>
            <a:endParaRPr lang="en-US" sz="800" dirty="0"/>
          </a:p>
        </p:txBody>
      </p:sp>
      <p:sp>
        <p:nvSpPr>
          <p:cNvPr id="33" name="Shape 31"/>
          <p:cNvSpPr/>
          <p:nvPr/>
        </p:nvSpPr>
        <p:spPr>
          <a:xfrm>
            <a:off x="640080" y="4343400"/>
            <a:ext cx="1188720" cy="274320"/>
          </a:xfrm>
          <a:prstGeom prst="rect">
            <a:avLst>
              <a:gd name="adj" fmla="val 16667"/>
            </a:avLst>
          </a:prstGeom>
          <a:solidFill>
            <a:srgbClr val="1C2039"/>
          </a:solidFill>
          <a:ln w="6350">
            <a:solidFill>
              <a:srgbClr val="9945FF">
                <a:alpha val="40000"/>
              </a:srgbClr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640080" y="4343400"/>
            <a:ext cx="1188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D4A0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PyO3</a:t>
            </a:r>
            <a:endParaRPr lang="en-US" sz="800" dirty="0"/>
          </a:p>
        </p:txBody>
      </p:sp>
      <p:sp>
        <p:nvSpPr>
          <p:cNvPr id="35" name="Shape 33"/>
          <p:cNvSpPr/>
          <p:nvPr/>
        </p:nvSpPr>
        <p:spPr>
          <a:xfrm>
            <a:off x="1920240" y="4343400"/>
            <a:ext cx="1188720" cy="274320"/>
          </a:xfrm>
          <a:prstGeom prst="rect">
            <a:avLst>
              <a:gd name="adj" fmla="val 16667"/>
            </a:avLst>
          </a:prstGeom>
          <a:solidFill>
            <a:srgbClr val="1C2039"/>
          </a:solidFill>
          <a:ln w="6350">
            <a:solidFill>
              <a:srgbClr val="9945FF">
                <a:alpha val="40000"/>
              </a:srgbClr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1920240" y="4343400"/>
            <a:ext cx="1188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D4A0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Docker Compose</a:t>
            </a:r>
            <a:endParaRPr lang="en-US" sz="800" dirty="0"/>
          </a:p>
        </p:txBody>
      </p:sp>
      <p:sp>
        <p:nvSpPr>
          <p:cNvPr id="37" name="Shape 35"/>
          <p:cNvSpPr/>
          <p:nvPr/>
        </p:nvSpPr>
        <p:spPr>
          <a:xfrm>
            <a:off x="3200400" y="4343400"/>
            <a:ext cx="1188720" cy="274320"/>
          </a:xfrm>
          <a:prstGeom prst="rect">
            <a:avLst>
              <a:gd name="adj" fmla="val 16667"/>
            </a:avLst>
          </a:prstGeom>
          <a:solidFill>
            <a:srgbClr val="1C2039"/>
          </a:solidFill>
          <a:ln w="6350">
            <a:solidFill>
              <a:srgbClr val="9945FF">
                <a:alpha val="40000"/>
              </a:srgbClr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3200400" y="4343400"/>
            <a:ext cx="1188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D4A0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nginx</a:t>
            </a:r>
            <a:endParaRPr lang="en-US" sz="8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0B0D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31520" y="320040"/>
            <a:ext cx="365760" cy="36576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1234440" y="320040"/>
            <a:ext cx="6400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Demo 演示流程</a:t>
            </a:r>
            <a:endParaRPr lang="en-US" sz="2400" dirty="0"/>
          </a:p>
        </p:txBody>
      </p:sp>
      <p:sp>
        <p:nvSpPr>
          <p:cNvPr id="4" name="Shape 1"/>
          <p:cNvSpPr/>
          <p:nvPr/>
        </p:nvSpPr>
        <p:spPr>
          <a:xfrm>
            <a:off x="457200" y="1188720"/>
            <a:ext cx="8229600" cy="1051560"/>
          </a:xfrm>
          <a:prstGeom prst="rect">
            <a:avLst/>
          </a:prstGeom>
          <a:solidFill>
            <a:srgbClr val="151829"/>
          </a:solidFill>
          <a:ln/>
          <a:effectLst>
            <a:outerShdw sx="100000" sy="100000" kx="0" ky="0" algn="bl" rotWithShape="0" blurRad="101600" dist="38100" dir="8100000">
              <a:srgbClr val="000000">
                <a:alpha val="30000"/>
              </a:srgbClr>
            </a:outerShdw>
          </a:effectLst>
        </p:spPr>
      </p:sp>
      <p:sp>
        <p:nvSpPr>
          <p:cNvPr id="5" name="Shape 2"/>
          <p:cNvSpPr/>
          <p:nvPr/>
        </p:nvSpPr>
        <p:spPr>
          <a:xfrm>
            <a:off x="457200" y="1188720"/>
            <a:ext cx="73152" cy="1051560"/>
          </a:xfrm>
          <a:prstGeom prst="rect">
            <a:avLst/>
          </a:prstGeom>
          <a:solidFill>
            <a:srgbClr val="14F195"/>
          </a:solidFill>
          <a:ln/>
        </p:spPr>
      </p:sp>
      <p:sp>
        <p:nvSpPr>
          <p:cNvPr id="6" name="Text 3"/>
          <p:cNvSpPr/>
          <p:nvPr/>
        </p:nvSpPr>
        <p:spPr>
          <a:xfrm>
            <a:off x="731520" y="1280160"/>
            <a:ext cx="7315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dirty="0">
                <a:solidFill>
                  <a:srgbClr val="14F195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01</a:t>
            </a:r>
            <a:endParaRPr lang="en-US" sz="3000" dirty="0"/>
          </a:p>
        </p:txBody>
      </p:sp>
      <p:sp>
        <p:nvSpPr>
          <p:cNvPr id="7" name="Text 4"/>
          <p:cNvSpPr/>
          <p:nvPr/>
        </p:nvSpPr>
        <p:spPr>
          <a:xfrm>
            <a:off x="1554480" y="128016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Agent 自动支付</a:t>
            </a:r>
            <a:endParaRPr lang="en-US" sz="1500" dirty="0"/>
          </a:p>
        </p:txBody>
      </p:sp>
      <p:sp>
        <p:nvSpPr>
          <p:cNvPr id="8" name="Text 5"/>
          <p:cNvSpPr/>
          <p:nvPr/>
        </p:nvSpPr>
        <p:spPr>
          <a:xfrm>
            <a:off x="1554480" y="169164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C4C4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金额低于阈值 → MCP 自动批准 → 链上支付 → 获取资源</a:t>
            </a:r>
            <a:endParaRPr lang="en-US" sz="1000" dirty="0"/>
          </a:p>
        </p:txBody>
      </p:sp>
      <p:sp>
        <p:nvSpPr>
          <p:cNvPr id="9" name="Shape 6"/>
          <p:cNvSpPr/>
          <p:nvPr/>
        </p:nvSpPr>
        <p:spPr>
          <a:xfrm>
            <a:off x="5669280" y="1463040"/>
            <a:ext cx="914400" cy="274320"/>
          </a:xfrm>
          <a:prstGeom prst="rect">
            <a:avLst>
              <a:gd name="adj" fmla="val 16667"/>
            </a:avLst>
          </a:prstGeom>
          <a:solidFill>
            <a:srgbClr val="14F195">
              <a:alpha val="20000"/>
            </a:srgbClr>
          </a:solidFill>
          <a:ln w="6350">
            <a:solidFill>
              <a:srgbClr val="14F195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5669280" y="146304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14F19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x402</a:t>
            </a:r>
            <a:endParaRPr lang="en-US" sz="700" dirty="0"/>
          </a:p>
        </p:txBody>
      </p:sp>
      <p:sp>
        <p:nvSpPr>
          <p:cNvPr id="11" name="Shape 8"/>
          <p:cNvSpPr/>
          <p:nvPr/>
        </p:nvSpPr>
        <p:spPr>
          <a:xfrm>
            <a:off x="6675120" y="1463040"/>
            <a:ext cx="914400" cy="274320"/>
          </a:xfrm>
          <a:prstGeom prst="rect">
            <a:avLst>
              <a:gd name="adj" fmla="val 16667"/>
            </a:avLst>
          </a:prstGeom>
          <a:solidFill>
            <a:srgbClr val="14F195">
              <a:alpha val="20000"/>
            </a:srgbClr>
          </a:solidFill>
          <a:ln w="6350">
            <a:solidFill>
              <a:srgbClr val="14F195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6675120" y="146304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14F19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Auto-Approve</a:t>
            </a:r>
            <a:endParaRPr lang="en-US" sz="700" dirty="0"/>
          </a:p>
        </p:txBody>
      </p:sp>
      <p:sp>
        <p:nvSpPr>
          <p:cNvPr id="13" name="Shape 10"/>
          <p:cNvSpPr/>
          <p:nvPr/>
        </p:nvSpPr>
        <p:spPr>
          <a:xfrm>
            <a:off x="7680960" y="1463040"/>
            <a:ext cx="914400" cy="274320"/>
          </a:xfrm>
          <a:prstGeom prst="rect">
            <a:avLst>
              <a:gd name="adj" fmla="val 16667"/>
            </a:avLst>
          </a:prstGeom>
          <a:solidFill>
            <a:srgbClr val="14F195">
              <a:alpha val="20000"/>
            </a:srgbClr>
          </a:solidFill>
          <a:ln w="6350">
            <a:solidFill>
              <a:srgbClr val="14F195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7680960" y="146304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14F19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Solana</a:t>
            </a:r>
            <a:endParaRPr lang="en-US" sz="700" dirty="0"/>
          </a:p>
        </p:txBody>
      </p:sp>
      <p:sp>
        <p:nvSpPr>
          <p:cNvPr id="15" name="Shape 12"/>
          <p:cNvSpPr/>
          <p:nvPr/>
        </p:nvSpPr>
        <p:spPr>
          <a:xfrm>
            <a:off x="457200" y="2423160"/>
            <a:ext cx="8229600" cy="1051560"/>
          </a:xfrm>
          <a:prstGeom prst="rect">
            <a:avLst/>
          </a:prstGeom>
          <a:solidFill>
            <a:srgbClr val="151829"/>
          </a:solidFill>
          <a:ln/>
          <a:effectLst>
            <a:outerShdw sx="100000" sy="100000" kx="0" ky="0" algn="bl" rotWithShape="0" blurRad="101600" dist="38100" dir="8100000">
              <a:srgbClr val="000000">
                <a:alpha val="30000"/>
              </a:srgbClr>
            </a:outerShdw>
          </a:effectLst>
        </p:spPr>
      </p:sp>
      <p:sp>
        <p:nvSpPr>
          <p:cNvPr id="16" name="Shape 13"/>
          <p:cNvSpPr/>
          <p:nvPr/>
        </p:nvSpPr>
        <p:spPr>
          <a:xfrm>
            <a:off x="457200" y="2423160"/>
            <a:ext cx="73152" cy="1051560"/>
          </a:xfrm>
          <a:prstGeom prst="rect">
            <a:avLst/>
          </a:prstGeom>
          <a:solidFill>
            <a:srgbClr val="9945FF"/>
          </a:solidFill>
          <a:ln/>
        </p:spPr>
      </p:sp>
      <p:sp>
        <p:nvSpPr>
          <p:cNvPr id="17" name="Text 14"/>
          <p:cNvSpPr/>
          <p:nvPr/>
        </p:nvSpPr>
        <p:spPr>
          <a:xfrm>
            <a:off x="731520" y="2514600"/>
            <a:ext cx="7315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dirty="0">
                <a:solidFill>
                  <a:srgbClr val="9945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02</a:t>
            </a:r>
            <a:endParaRPr lang="en-US" sz="3000" dirty="0"/>
          </a:p>
        </p:txBody>
      </p:sp>
      <p:sp>
        <p:nvSpPr>
          <p:cNvPr id="18" name="Text 15"/>
          <p:cNvSpPr/>
          <p:nvPr/>
        </p:nvSpPr>
        <p:spPr>
          <a:xfrm>
            <a:off x="1554480" y="251460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手机授权支付</a:t>
            </a:r>
            <a:endParaRPr lang="en-US" sz="1500" dirty="0"/>
          </a:p>
        </p:txBody>
      </p:sp>
      <p:sp>
        <p:nvSpPr>
          <p:cNvPr id="19" name="Text 16"/>
          <p:cNvSpPr/>
          <p:nvPr/>
        </p:nvSpPr>
        <p:spPr>
          <a:xfrm>
            <a:off x="1554480" y="292608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C4C4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超过阈值 → DIDComm 推送 → 手机滑动确认 → Session Key 链上转账</a:t>
            </a:r>
            <a:endParaRPr lang="en-US" sz="1000" dirty="0"/>
          </a:p>
        </p:txBody>
      </p:sp>
      <p:sp>
        <p:nvSpPr>
          <p:cNvPr id="20" name="Shape 17"/>
          <p:cNvSpPr/>
          <p:nvPr/>
        </p:nvSpPr>
        <p:spPr>
          <a:xfrm>
            <a:off x="5669280" y="2697480"/>
            <a:ext cx="914400" cy="274320"/>
          </a:xfrm>
          <a:prstGeom prst="rect">
            <a:avLst>
              <a:gd name="adj" fmla="val 16667"/>
            </a:avLst>
          </a:prstGeom>
          <a:solidFill>
            <a:srgbClr val="9945FF">
              <a:alpha val="20000"/>
            </a:srgbClr>
          </a:solidFill>
          <a:ln w="6350">
            <a:solidFill>
              <a:srgbClr val="9945FF"/>
            </a:solidFill>
            <a:prstDash val="solid"/>
          </a:ln>
        </p:spPr>
      </p:sp>
      <p:sp>
        <p:nvSpPr>
          <p:cNvPr id="21" name="Text 18"/>
          <p:cNvSpPr/>
          <p:nvPr/>
        </p:nvSpPr>
        <p:spPr>
          <a:xfrm>
            <a:off x="5669280" y="26974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9945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DIDComm</a:t>
            </a:r>
            <a:endParaRPr lang="en-US" sz="700" dirty="0"/>
          </a:p>
        </p:txBody>
      </p:sp>
      <p:sp>
        <p:nvSpPr>
          <p:cNvPr id="22" name="Shape 19"/>
          <p:cNvSpPr/>
          <p:nvPr/>
        </p:nvSpPr>
        <p:spPr>
          <a:xfrm>
            <a:off x="6675120" y="2697480"/>
            <a:ext cx="914400" cy="274320"/>
          </a:xfrm>
          <a:prstGeom prst="rect">
            <a:avLst>
              <a:gd name="adj" fmla="val 16667"/>
            </a:avLst>
          </a:prstGeom>
          <a:solidFill>
            <a:srgbClr val="9945FF">
              <a:alpha val="20000"/>
            </a:srgbClr>
          </a:solidFill>
          <a:ln w="6350">
            <a:solidFill>
              <a:srgbClr val="9945FF"/>
            </a:solidFill>
            <a:prstDash val="solid"/>
          </a:ln>
        </p:spPr>
      </p:sp>
      <p:sp>
        <p:nvSpPr>
          <p:cNvPr id="23" name="Text 20"/>
          <p:cNvSpPr/>
          <p:nvPr/>
        </p:nvSpPr>
        <p:spPr>
          <a:xfrm>
            <a:off x="6675120" y="26974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9945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Session Key</a:t>
            </a:r>
            <a:endParaRPr lang="en-US" sz="700" dirty="0"/>
          </a:p>
        </p:txBody>
      </p:sp>
      <p:sp>
        <p:nvSpPr>
          <p:cNvPr id="24" name="Shape 21"/>
          <p:cNvSpPr/>
          <p:nvPr/>
        </p:nvSpPr>
        <p:spPr>
          <a:xfrm>
            <a:off x="7680960" y="2697480"/>
            <a:ext cx="914400" cy="274320"/>
          </a:xfrm>
          <a:prstGeom prst="rect">
            <a:avLst>
              <a:gd name="adj" fmla="val 16667"/>
            </a:avLst>
          </a:prstGeom>
          <a:solidFill>
            <a:srgbClr val="9945FF">
              <a:alpha val="20000"/>
            </a:srgbClr>
          </a:solidFill>
          <a:ln w="6350">
            <a:solidFill>
              <a:srgbClr val="9945FF"/>
            </a:solidFill>
            <a:prstDash val="solid"/>
          </a:ln>
        </p:spPr>
      </p:sp>
      <p:sp>
        <p:nvSpPr>
          <p:cNvPr id="25" name="Text 22"/>
          <p:cNvSpPr/>
          <p:nvPr/>
        </p:nvSpPr>
        <p:spPr>
          <a:xfrm>
            <a:off x="7680960" y="26974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9945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Phone Auth</a:t>
            </a:r>
            <a:endParaRPr lang="en-US" sz="7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0B0D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27432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spc="400" kern="0" dirty="0">
                <a:solidFill>
                  <a:srgbClr val="9945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TARGET USERS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731520" y="548640"/>
            <a:ext cx="7315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适用场景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274320" y="1280160"/>
            <a:ext cx="2057400" cy="3291840"/>
          </a:xfrm>
          <a:prstGeom prst="rect">
            <a:avLst/>
          </a:prstGeom>
          <a:solidFill>
            <a:srgbClr val="151829"/>
          </a:solidFill>
          <a:ln/>
          <a:effectLst>
            <a:outerShdw sx="100000" sy="100000" kx="0" ky="0" algn="bl" rotWithShape="0" blurRad="101600" dist="38100" dir="8100000">
              <a:srgbClr val="000000">
                <a:alpha val="3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274320" y="1280160"/>
            <a:ext cx="2057400" cy="45720"/>
          </a:xfrm>
          <a:prstGeom prst="rect">
            <a:avLst/>
          </a:prstGeom>
          <a:solidFill>
            <a:srgbClr val="14F195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60120" y="1554480"/>
            <a:ext cx="548640" cy="548640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457200" y="2286000"/>
            <a:ext cx="1691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4F19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 Agent 开发者</a:t>
            </a:r>
            <a:endParaRPr lang="en-US" sz="1400" dirty="0"/>
          </a:p>
        </p:txBody>
      </p:sp>
      <p:sp>
        <p:nvSpPr>
          <p:cNvPr id="8" name="Text 5"/>
          <p:cNvSpPr/>
          <p:nvPr/>
        </p:nvSpPr>
        <p:spPr>
          <a:xfrm>
            <a:off x="457200" y="2743200"/>
            <a:ext cx="169164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50000"/>
              </a:lnSpc>
              <a:buNone/>
            </a:pPr>
            <a:r>
              <a:rPr lang="en-US" sz="1000" dirty="0">
                <a:solidFill>
                  <a:srgbClr val="C4C4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构建可自主支付的 Agent，访问付费 API、数据源、算力，保留人类监督</a:t>
            </a:r>
            <a:endParaRPr lang="en-US" sz="1000" dirty="0"/>
          </a:p>
        </p:txBody>
      </p:sp>
      <p:sp>
        <p:nvSpPr>
          <p:cNvPr id="9" name="Shape 6"/>
          <p:cNvSpPr/>
          <p:nvPr/>
        </p:nvSpPr>
        <p:spPr>
          <a:xfrm>
            <a:off x="2468880" y="1280160"/>
            <a:ext cx="2057400" cy="3291840"/>
          </a:xfrm>
          <a:prstGeom prst="rect">
            <a:avLst/>
          </a:prstGeom>
          <a:solidFill>
            <a:srgbClr val="151829"/>
          </a:solidFill>
          <a:ln/>
          <a:effectLst>
            <a:outerShdw sx="100000" sy="100000" kx="0" ky="0" algn="bl" rotWithShape="0" blurRad="101600" dist="38100" dir="8100000">
              <a:srgbClr val="000000">
                <a:alpha val="30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2468880" y="1280160"/>
            <a:ext cx="2057400" cy="45720"/>
          </a:xfrm>
          <a:prstGeom prst="rect">
            <a:avLst/>
          </a:prstGeom>
          <a:solidFill>
            <a:srgbClr val="9945FF"/>
          </a:solidFill>
          <a:ln/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154680" y="1554480"/>
            <a:ext cx="548640" cy="548640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2651760" y="2286000"/>
            <a:ext cx="1691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9945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商户 / 服务商</a:t>
            </a:r>
            <a:endParaRPr lang="en-US" sz="1400" dirty="0"/>
          </a:p>
        </p:txBody>
      </p:sp>
      <p:sp>
        <p:nvSpPr>
          <p:cNvPr id="13" name="Text 9"/>
          <p:cNvSpPr/>
          <p:nvPr/>
        </p:nvSpPr>
        <p:spPr>
          <a:xfrm>
            <a:off x="2651760" y="2743200"/>
            <a:ext cx="169164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50000"/>
              </a:lnSpc>
              <a:buNone/>
            </a:pPr>
            <a:r>
              <a:rPr lang="en-US" sz="1000" dirty="0">
                <a:solidFill>
                  <a:srgbClr val="C4C4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接受 x402 Agent 支付 + 消费者扫码支付，注册链上身份获取信任</a:t>
            </a:r>
            <a:endParaRPr lang="en-US" sz="1000" dirty="0"/>
          </a:p>
        </p:txBody>
      </p:sp>
      <p:sp>
        <p:nvSpPr>
          <p:cNvPr id="14" name="Shape 10"/>
          <p:cNvSpPr/>
          <p:nvPr/>
        </p:nvSpPr>
        <p:spPr>
          <a:xfrm>
            <a:off x="4663440" y="1280160"/>
            <a:ext cx="2057400" cy="3291840"/>
          </a:xfrm>
          <a:prstGeom prst="rect">
            <a:avLst/>
          </a:prstGeom>
          <a:solidFill>
            <a:srgbClr val="151829"/>
          </a:solidFill>
          <a:ln/>
          <a:effectLst>
            <a:outerShdw sx="100000" sy="100000" kx="0" ky="0" algn="bl" rotWithShape="0" blurRad="101600" dist="38100" dir="8100000">
              <a:srgbClr val="000000">
                <a:alpha val="30000"/>
              </a:srgbClr>
            </a:outerShdw>
          </a:effectLst>
        </p:spPr>
      </p:sp>
      <p:sp>
        <p:nvSpPr>
          <p:cNvPr id="15" name="Shape 11"/>
          <p:cNvSpPr/>
          <p:nvPr/>
        </p:nvSpPr>
        <p:spPr>
          <a:xfrm>
            <a:off x="4663440" y="1280160"/>
            <a:ext cx="2057400" cy="45720"/>
          </a:xfrm>
          <a:prstGeom prst="rect">
            <a:avLst/>
          </a:prstGeom>
          <a:solidFill>
            <a:srgbClr val="F59E0B"/>
          </a:solidFill>
          <a:ln/>
        </p:spPr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49240" y="1554480"/>
            <a:ext cx="548640" cy="548640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4846320" y="2286000"/>
            <a:ext cx="1691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59E0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消费者</a:t>
            </a:r>
            <a:endParaRPr lang="en-US" sz="1400" dirty="0"/>
          </a:p>
        </p:txBody>
      </p:sp>
      <p:sp>
        <p:nvSpPr>
          <p:cNvPr id="18" name="Text 13"/>
          <p:cNvSpPr/>
          <p:nvPr/>
        </p:nvSpPr>
        <p:spPr>
          <a:xfrm>
            <a:off x="4846320" y="2743200"/>
            <a:ext cx="169164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50000"/>
              </a:lnSpc>
              <a:buNone/>
            </a:pPr>
            <a:r>
              <a:rPr lang="en-US" sz="1000" dirty="0">
                <a:solidFill>
                  <a:srgbClr val="C4C4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扫码微支付（咖啡、自动售货机），授权 Agent 支付，跨链 USDC 充值</a:t>
            </a:r>
            <a:endParaRPr lang="en-US" sz="1000" dirty="0"/>
          </a:p>
        </p:txBody>
      </p:sp>
      <p:sp>
        <p:nvSpPr>
          <p:cNvPr id="19" name="Shape 14"/>
          <p:cNvSpPr/>
          <p:nvPr/>
        </p:nvSpPr>
        <p:spPr>
          <a:xfrm>
            <a:off x="6858000" y="1280160"/>
            <a:ext cx="2057400" cy="3291840"/>
          </a:xfrm>
          <a:prstGeom prst="rect">
            <a:avLst/>
          </a:prstGeom>
          <a:solidFill>
            <a:srgbClr val="151829"/>
          </a:solidFill>
          <a:ln/>
          <a:effectLst>
            <a:outerShdw sx="100000" sy="100000" kx="0" ky="0" algn="bl" rotWithShape="0" blurRad="101600" dist="38100" dir="8100000">
              <a:srgbClr val="000000">
                <a:alpha val="30000"/>
              </a:srgbClr>
            </a:outerShdw>
          </a:effectLst>
        </p:spPr>
      </p:sp>
      <p:sp>
        <p:nvSpPr>
          <p:cNvPr id="20" name="Shape 15"/>
          <p:cNvSpPr/>
          <p:nvPr/>
        </p:nvSpPr>
        <p:spPr>
          <a:xfrm>
            <a:off x="6858000" y="1280160"/>
            <a:ext cx="2057400" cy="45720"/>
          </a:xfrm>
          <a:prstGeom prst="rect">
            <a:avLst/>
          </a:prstGeom>
          <a:solidFill>
            <a:srgbClr val="06B6D4"/>
          </a:solidFill>
          <a:ln/>
        </p:spPr>
      </p:sp>
      <p:pic>
        <p:nvPicPr>
          <p:cNvPr id="21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543800" y="1554480"/>
            <a:ext cx="548640" cy="548640"/>
          </a:xfrm>
          <a:prstGeom prst="rect">
            <a:avLst/>
          </a:prstGeom>
        </p:spPr>
      </p:pic>
      <p:sp>
        <p:nvSpPr>
          <p:cNvPr id="22" name="Text 16"/>
          <p:cNvSpPr/>
          <p:nvPr/>
        </p:nvSpPr>
        <p:spPr>
          <a:xfrm>
            <a:off x="7040880" y="2286000"/>
            <a:ext cx="1691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6B6D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企业场景</a:t>
            </a:r>
            <a:endParaRPr lang="en-US" sz="1400" dirty="0"/>
          </a:p>
        </p:txBody>
      </p:sp>
      <p:sp>
        <p:nvSpPr>
          <p:cNvPr id="23" name="Text 17"/>
          <p:cNvSpPr/>
          <p:nvPr/>
        </p:nvSpPr>
        <p:spPr>
          <a:xfrm>
            <a:off x="7040880" y="2743200"/>
            <a:ext cx="169164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50000"/>
              </a:lnSpc>
              <a:buNone/>
            </a:pPr>
            <a:r>
              <a:rPr lang="en-US" sz="1000" dirty="0">
                <a:solidFill>
                  <a:srgbClr val="C4C4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Relayer 代付模式，零 Gas 门槛用户引导，批量微支付结算</a:t>
            </a:r>
            <a:endParaRPr lang="en-US" sz="10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0B0D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0" y="-914400"/>
            <a:ext cx="3657600" cy="3657600"/>
          </a:xfrm>
          <a:prstGeom prst="ellipse">
            <a:avLst/>
          </a:prstGeom>
          <a:solidFill>
            <a:srgbClr val="9945FF">
              <a:alpha val="15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-1371600" y="2743200"/>
            <a:ext cx="3657600" cy="3657600"/>
          </a:xfrm>
          <a:prstGeom prst="ellipse">
            <a:avLst/>
          </a:prstGeom>
          <a:solidFill>
            <a:srgbClr val="14F195">
              <a:alpha val="10000"/>
            </a:srgbClr>
          </a:solidFill>
          <a:ln/>
        </p:spPr>
      </p:sp>
      <p:sp>
        <p:nvSpPr>
          <p:cNvPr id="4" name="Text 2"/>
          <p:cNvSpPr/>
          <p:nvPr/>
        </p:nvSpPr>
        <p:spPr>
          <a:xfrm>
            <a:off x="731520" y="4572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spc="400" kern="0" dirty="0">
                <a:solidFill>
                  <a:srgbClr val="14F19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SUMMARY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822960"/>
            <a:ext cx="76809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Ignite Pay</a:t>
            </a:r>
            <a:endParaRPr lang="en-US" sz="4000" dirty="0"/>
          </a:p>
        </p:txBody>
      </p:sp>
      <p:sp>
        <p:nvSpPr>
          <p:cNvPr id="6" name="Shape 4"/>
          <p:cNvSpPr/>
          <p:nvPr/>
        </p:nvSpPr>
        <p:spPr>
          <a:xfrm>
            <a:off x="731520" y="1737360"/>
            <a:ext cx="73152" cy="274320"/>
          </a:xfrm>
          <a:prstGeom prst="rect">
            <a:avLst/>
          </a:prstGeom>
          <a:solidFill>
            <a:srgbClr val="14F195"/>
          </a:solidFill>
          <a:ln/>
        </p:spPr>
      </p:sp>
      <p:sp>
        <p:nvSpPr>
          <p:cNvPr id="7" name="Text 5"/>
          <p:cNvSpPr/>
          <p:nvPr/>
        </p:nvSpPr>
        <p:spPr>
          <a:xfrm>
            <a:off x="1005840" y="1737360"/>
            <a:ext cx="6858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 自主支付 + 人类实时授权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731520" y="2148840"/>
            <a:ext cx="73152" cy="274320"/>
          </a:xfrm>
          <a:prstGeom prst="rect">
            <a:avLst/>
          </a:prstGeom>
          <a:solidFill>
            <a:srgbClr val="9945FF"/>
          </a:solidFill>
          <a:ln/>
        </p:spPr>
      </p:sp>
      <p:sp>
        <p:nvSpPr>
          <p:cNvPr id="9" name="Text 7"/>
          <p:cNvSpPr/>
          <p:nvPr/>
        </p:nvSpPr>
        <p:spPr>
          <a:xfrm>
            <a:off x="1005840" y="2148840"/>
            <a:ext cx="6858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DIDComm v2 端到端加密 — 中继零知识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731520" y="2560320"/>
            <a:ext cx="73152" cy="274320"/>
          </a:xfrm>
          <a:prstGeom prst="rect">
            <a:avLst/>
          </a:prstGeom>
          <a:solidFill>
            <a:srgbClr val="F59E0B"/>
          </a:solidFill>
          <a:ln/>
        </p:spPr>
      </p:sp>
      <p:sp>
        <p:nvSpPr>
          <p:cNvPr id="11" name="Text 9"/>
          <p:cNvSpPr/>
          <p:nvPr/>
        </p:nvSpPr>
        <p:spPr>
          <a:xfrm>
            <a:off x="1005840" y="2560320"/>
            <a:ext cx="6858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条支付路径 — 自动选择最优方案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731520" y="2971800"/>
            <a:ext cx="73152" cy="274320"/>
          </a:xfrm>
          <a:prstGeom prst="rect">
            <a:avLst/>
          </a:prstGeom>
          <a:solidFill>
            <a:srgbClr val="06B6D4"/>
          </a:solidFill>
          <a:ln/>
        </p:spPr>
      </p:sp>
      <p:sp>
        <p:nvSpPr>
          <p:cNvPr id="13" name="Text 11"/>
          <p:cNvSpPr/>
          <p:nvPr/>
        </p:nvSpPr>
        <p:spPr>
          <a:xfrm>
            <a:off x="1005840" y="2971800"/>
            <a:ext cx="6858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 层风控 — 黑名单到白名单全覆盖</a:t>
            </a:r>
            <a:endParaRPr lang="en-US" sz="1400" dirty="0"/>
          </a:p>
        </p:txBody>
      </p:sp>
      <p:sp>
        <p:nvSpPr>
          <p:cNvPr id="14" name="Shape 12"/>
          <p:cNvSpPr/>
          <p:nvPr/>
        </p:nvSpPr>
        <p:spPr>
          <a:xfrm>
            <a:off x="731520" y="3383280"/>
            <a:ext cx="73152" cy="274320"/>
          </a:xfrm>
          <a:prstGeom prst="rect">
            <a:avLst/>
          </a:prstGeom>
          <a:solidFill>
            <a:srgbClr val="6366F1"/>
          </a:solidFill>
          <a:ln/>
        </p:spPr>
      </p:sp>
      <p:sp>
        <p:nvSpPr>
          <p:cNvPr id="15" name="Text 13"/>
          <p:cNvSpPr/>
          <p:nvPr/>
        </p:nvSpPr>
        <p:spPr>
          <a:xfrm>
            <a:off x="1005840" y="3383280"/>
            <a:ext cx="6858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CCTP 跨链 USDC — 一键 EVM 到 Solana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2286000" y="3931920"/>
            <a:ext cx="4572000" cy="640080"/>
          </a:xfrm>
          <a:prstGeom prst="rect">
            <a:avLst/>
          </a:prstGeom>
          <a:solidFill>
            <a:srgbClr val="14F195"/>
          </a:solidFill>
          <a:ln/>
          <a:effectLst>
            <a:outerShdw sx="100000" sy="100000" kx="0" ky="0" algn="bl" rotWithShape="0" blurRad="101600" dist="38100" dir="8100000">
              <a:srgbClr val="000000">
                <a:alpha val="30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86000" y="3931920"/>
            <a:ext cx="45720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0B0D17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为 Agent 经济构建支付基础设施</a:t>
            </a:r>
            <a:endParaRPr lang="en-US" sz="16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15</Slides>
  <Notes>15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15</vt:i4>
      </vt:variant>
    </vt:vector>
  </HeadingPairs>
  <TitlesOfParts>
    <vt:vector size="1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Ignite Pay — Agent Payment Infrastructure</dc:title>
  <dc:subject>PptxGenJS Presentation</dc:subject>
  <dc:creator>Ignite Pay</dc:creator>
  <cp:lastModifiedBy>Ignite Pay</cp:lastModifiedBy>
  <cp:revision>1</cp:revision>
  <dcterms:created xsi:type="dcterms:W3CDTF">2026-05-08T07:39:01Z</dcterms:created>
  <dcterms:modified xsi:type="dcterms:W3CDTF">2026-05-08T07:39:01Z</dcterms:modified>
</cp:coreProperties>
</file>