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9945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14F195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ECONOMY PAYMENT INFRASTRUCTURE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Ignite Pay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遇到付费墙，自动发起支付
</a:t>
            </a:r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D4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 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在手机上滑动确认，</a:t>
            </a:r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链上结算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1554480" cy="320040"/>
          </a:xfrm>
          <a:prstGeom prst="rect">
            <a:avLst>
              <a:gd name="adj" fmla="val 14286"/>
            </a:avLst>
          </a:prstGeom>
          <a:solidFill>
            <a:srgbClr val="151829"/>
          </a:solidFill>
          <a:ln w="12700">
            <a:solidFill>
              <a:srgbClr val="9945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Protocol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4206240"/>
            <a:ext cx="1554480" cy="320040"/>
          </a:xfrm>
          <a:prstGeom prst="rect">
            <a:avLst>
              <a:gd name="adj" fmla="val 14286"/>
            </a:avLst>
          </a:prstGeom>
          <a:solidFill>
            <a:srgbClr val="151829"/>
          </a:solidFill>
          <a:ln w="12700">
            <a:solidFill>
              <a:srgbClr val="9945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4206240"/>
            <a:ext cx="1554480" cy="320040"/>
          </a:xfrm>
          <a:prstGeom prst="rect">
            <a:avLst>
              <a:gd name="adj" fmla="val 14286"/>
            </a:avLst>
          </a:prstGeom>
          <a:solidFill>
            <a:srgbClr val="151829"/>
          </a:solidFill>
          <a:ln w="12700">
            <a:solidFill>
              <a:srgbClr val="9945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DIDComm v2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4206240"/>
            <a:ext cx="1554480" cy="320040"/>
          </a:xfrm>
          <a:prstGeom prst="rect">
            <a:avLst>
              <a:gd name="adj" fmla="val 14286"/>
            </a:avLst>
          </a:prstGeom>
          <a:solidFill>
            <a:srgbClr val="151829"/>
          </a:solidFill>
          <a:ln w="12700">
            <a:solidFill>
              <a:srgbClr val="9945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 需要付费，但谁来授权？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874520" cy="274320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自主性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301752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执行任务时需要访问付费 API、数据源、算力资源，但无法自行判断是否该付这笔钱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88920" y="1828800"/>
            <a:ext cx="1874520" cy="274320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0574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71800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安全风险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971800" y="301752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完全自动化支付 = 私钥暴露给 Agent，一旦 Agent 被劫持，资金安全无保障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846320" y="1828800"/>
            <a:ext cx="1874520" cy="274320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0574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29200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隐私挑战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029200" y="301752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与用户之间的通信需要端到端加密，中继服务器不应读取支付指令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903720" y="1828800"/>
            <a:ext cx="1874520" cy="274320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0574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86600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效率要求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086600" y="301752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高频微支付场景（API 调用、内容付费）需要亚秒级延迟和零 Gas 成本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遇到付费墙 → MCP 编排 → 手机授权 → 链上支付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" y="1737360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1783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6A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请求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外部服务返回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1737360"/>
            <a:ext cx="640080" cy="64008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6A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24028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处理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0280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 x402 挑战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风控决策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1737360"/>
            <a:ext cx="640080" cy="64008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20640" y="1783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6A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97764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手机授权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77640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DIDComm 加密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滑动确认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72200" y="173736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1783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6A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71500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链上支付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Key /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Relayer 代付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09560" y="1737360"/>
            <a:ext cx="640080" cy="640080"/>
          </a:xfrm>
          <a:prstGeom prst="ellipse">
            <a:avLst/>
          </a:prstGeom>
          <a:solidFill>
            <a:srgbClr val="0D9B6A"/>
          </a:solidFill>
          <a:ln/>
        </p:spPr>
      </p:sp>
      <p:sp>
        <p:nvSpPr>
          <p:cNvPr id="25" name="Text 23"/>
          <p:cNvSpPr/>
          <p:nvPr/>
        </p:nvSpPr>
        <p:spPr>
          <a:xfrm>
            <a:off x="79095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5236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获取资源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52360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携带凭证重试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端到端加密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DIDComm v2 JWE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5176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多路径支付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5176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种支付方式自动选择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六层风控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6344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黑名单到白名单全覆盖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7512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 Rust 后端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751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 crate 高性能架构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四层架构设计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59436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3716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 |  Buyer App  |  Merchant App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03120"/>
            <a:ext cx="73152" cy="59436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21031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MCP (23 Tools)  |  Merchant MCP (16 Tools)  |  Hub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834640"/>
            <a:ext cx="73152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34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28346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DIDComm v2 Mediator  |  JWE Authcrypt  |  Ed25519 + X25519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566160"/>
            <a:ext cx="73152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66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35661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Settlement  |  DID Registry  |  Session Key Program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3840480" cy="457200"/>
          </a:xfrm>
          <a:prstGeom prst="rect">
            <a:avLst/>
          </a:prstGeom>
          <a:solidFill>
            <a:srgbClr val="1C203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89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MCP-First: JSON-RPC 2.0 工具协议，兼容 Claude / Cursor 等客户端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4389120"/>
            <a:ext cx="3840480" cy="457200"/>
          </a:xfrm>
          <a:prstGeom prst="rect">
            <a:avLst/>
          </a:prstGeom>
          <a:solidFill>
            <a:srgbClr val="1C2039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4389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Rust Bridge 移动端，共享加密与业务逻辑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320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自主支付 + 人类授权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自动通过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白名单商户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金额低于全局阈值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无需通知用户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直接执行链上支付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零延迟 | 零用户交互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手机授权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0" y="18288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新商户 / 超额支付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DIDComm 加密推送授权请求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手机一划确认 / 拒绝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创建临时 Session Key 执行支付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端到端加密 | 临时密钥隔离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320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多路径支付引擎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20040" y="1097280"/>
            <a:ext cx="1920240" cy="329184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20040" y="1097280"/>
            <a:ext cx="1920240" cy="4572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Key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~400ms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2514600"/>
            <a:ext cx="1645920" cy="274320"/>
          </a:xfrm>
          <a:prstGeom prst="rect">
            <a:avLst/>
          </a:prstGeom>
          <a:solidFill>
            <a:srgbClr val="1C203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Gas: Normal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30175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链上 SOL/SPL 转账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临时密钥授权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23160" y="1097280"/>
            <a:ext cx="1920240" cy="329184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23160" y="1097280"/>
            <a:ext cx="192024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1"/>
          <p:cNvSpPr/>
          <p:nvPr/>
        </p:nvSpPr>
        <p:spPr>
          <a:xfrm>
            <a:off x="256032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Wallet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56032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~400ms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56032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560320" y="2514600"/>
            <a:ext cx="1645920" cy="274320"/>
          </a:xfrm>
          <a:prstGeom prst="rect">
            <a:avLst/>
          </a:prstGeom>
          <a:solidFill>
            <a:srgbClr val="1C2039"/>
          </a:solidFill>
          <a:ln/>
        </p:spPr>
      </p:sp>
      <p:sp>
        <p:nvSpPr>
          <p:cNvPr id="18" name="Text 15"/>
          <p:cNvSpPr/>
          <p:nvPr/>
        </p:nvSpPr>
        <p:spPr>
          <a:xfrm>
            <a:off x="256032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Gas: Normal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560320" y="30175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/ Solflare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 签名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26280" y="1097280"/>
            <a:ext cx="1920240" cy="329184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26280" y="1097280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466344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66344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~400ms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66344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663440" y="2514600"/>
            <a:ext cx="1645920" cy="274320"/>
          </a:xfrm>
          <a:prstGeom prst="rect">
            <a:avLst/>
          </a:prstGeom>
          <a:solidFill>
            <a:srgbClr val="1C2039"/>
          </a:solidFill>
          <a:ln/>
        </p:spPr>
      </p:sp>
      <p:sp>
        <p:nvSpPr>
          <p:cNvPr id="26" name="Text 23"/>
          <p:cNvSpPr/>
          <p:nvPr/>
        </p:nvSpPr>
        <p:spPr>
          <a:xfrm>
            <a:off x="466344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Gas: Sponsored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663440" y="30175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代付 Gas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零门槛用户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629400" y="1097280"/>
            <a:ext cx="1920240" cy="329184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629400" y="1097280"/>
            <a:ext cx="192024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Text 27"/>
          <p:cNvSpPr/>
          <p:nvPr/>
        </p:nvSpPr>
        <p:spPr>
          <a:xfrm>
            <a:off x="676656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CCTP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76656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10-30min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676656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766560" y="2514600"/>
            <a:ext cx="1645920" cy="274320"/>
          </a:xfrm>
          <a:prstGeom prst="rect">
            <a:avLst/>
          </a:prstGeom>
          <a:solidFill>
            <a:srgbClr val="1C2039"/>
          </a:solidFill>
          <a:ln/>
        </p:spPr>
      </p:sp>
      <p:sp>
        <p:nvSpPr>
          <p:cNvPr id="34" name="Text 31"/>
          <p:cNvSpPr/>
          <p:nvPr/>
        </p:nvSpPr>
        <p:spPr>
          <a:xfrm>
            <a:off x="676656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Gas: Source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766560" y="30175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跨链 USDC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→ Solana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320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DIDComm v2 端到端加密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85800" y="1280160"/>
            <a:ext cx="731520" cy="731520"/>
          </a:xfrm>
          <a:prstGeom prst="ellipse">
            <a:avLst/>
          </a:prstGeom>
          <a:solidFill>
            <a:srgbClr val="9945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8580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支付授权请求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606040" y="1280160"/>
            <a:ext cx="731520" cy="73152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60604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37744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Authcrypt 加密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26280" y="1280160"/>
            <a:ext cx="731520" cy="731520"/>
          </a:xfrm>
          <a:prstGeom prst="ellipse">
            <a:avLst/>
          </a:prstGeom>
          <a:solidFill>
            <a:srgbClr val="9945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2628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Mediator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29768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中继转发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(无法解密)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97880" y="1280160"/>
            <a:ext cx="731520" cy="73152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9788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密文传输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543800" y="1280160"/>
            <a:ext cx="731520" cy="731520"/>
          </a:xfrm>
          <a:prstGeom prst="ellipse">
            <a:avLst/>
          </a:prstGeom>
          <a:solidFill>
            <a:srgbClr val="9945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54380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解密并展示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5087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6A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4290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6A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3492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6A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7208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6A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加密算法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560320" y="30175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JWE Authcrypt (X25519 key agreement)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3493008"/>
            <a:ext cx="8229600" cy="41148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34930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签名算法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560320" y="34930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签名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968496"/>
            <a:ext cx="8229600" cy="41148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39684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身份标识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560320" y="396849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did:ignite:z6Mk... (Ed25519 多基数编码)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4443984"/>
            <a:ext cx="8229600" cy="41148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33" name="Text 30"/>
          <p:cNvSpPr/>
          <p:nvPr/>
        </p:nvSpPr>
        <p:spPr>
          <a:xfrm>
            <a:off x="731520" y="44439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中继安全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560320" y="444398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中继服务器零知识 — 只能看到密文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320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六层风控体系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5" name="Shape 2"/>
          <p:cNvSpPr/>
          <p:nvPr/>
        </p:nvSpPr>
        <p:spPr>
          <a:xfrm>
            <a:off x="594360" y="1161288"/>
            <a:ext cx="50292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1612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280160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黑名单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91840" y="1051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商户在黑名单 → 直接拒绝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75120" y="1179576"/>
            <a:ext cx="1371600" cy="329184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0" y="11795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1709928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12" name="Shape 9"/>
          <p:cNvSpPr/>
          <p:nvPr/>
        </p:nvSpPr>
        <p:spPr>
          <a:xfrm>
            <a:off x="594360" y="1819656"/>
            <a:ext cx="50292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18196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280160" y="17099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CID 黑名单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291840" y="170992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内容哈希在黑名单 → 拒绝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75120" y="1837944"/>
            <a:ext cx="1371600" cy="329184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0" y="18379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57200" y="2368296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19" name="Shape 16"/>
          <p:cNvSpPr/>
          <p:nvPr/>
        </p:nvSpPr>
        <p:spPr>
          <a:xfrm>
            <a:off x="594360" y="2478024"/>
            <a:ext cx="5029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24780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280160" y="236829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单笔限额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291840" y="236829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金额超过配置阈值 → 需授权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675120" y="2496312"/>
            <a:ext cx="1371600" cy="32918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0" y="24963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026664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26" name="Shape 23"/>
          <p:cNvSpPr/>
          <p:nvPr/>
        </p:nvSpPr>
        <p:spPr>
          <a:xfrm>
            <a:off x="594360" y="3136392"/>
            <a:ext cx="502920" cy="36576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31363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280160" y="302666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白名单自动通过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291840" y="302666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信任商户 + 额度内 → 自动批准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675120" y="3154680"/>
            <a:ext cx="1371600" cy="329184"/>
          </a:xfrm>
          <a:prstGeom prst="rect">
            <a:avLst/>
          </a:prstGeom>
          <a:solidFill>
            <a:srgbClr val="14F195">
              <a:alpha val="20000"/>
            </a:srgbClr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75120" y="31546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APPROVE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57200" y="3685032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33" name="Shape 30"/>
          <p:cNvSpPr/>
          <p:nvPr/>
        </p:nvSpPr>
        <p:spPr>
          <a:xfrm>
            <a:off x="594360" y="3794760"/>
            <a:ext cx="502920" cy="36576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34" name="Text 31"/>
          <p:cNvSpPr/>
          <p:nvPr/>
        </p:nvSpPr>
        <p:spPr>
          <a:xfrm>
            <a:off x="594360" y="3794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L5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280160" y="36850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CID 白名单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3291840" y="36850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信任内容源 → 自动批准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675120" y="3813048"/>
            <a:ext cx="1371600" cy="329184"/>
          </a:xfrm>
          <a:prstGeom prst="rect">
            <a:avLst/>
          </a:prstGeom>
          <a:solidFill>
            <a:srgbClr val="14F195">
              <a:alpha val="20000"/>
            </a:srgbClr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675120" y="38130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APPROVE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40" name="Shape 37"/>
          <p:cNvSpPr/>
          <p:nvPr/>
        </p:nvSpPr>
        <p:spPr>
          <a:xfrm>
            <a:off x="594360" y="4453128"/>
            <a:ext cx="502920" cy="3657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1" name="Text 38"/>
          <p:cNvSpPr/>
          <p:nvPr/>
        </p:nvSpPr>
        <p:spPr>
          <a:xfrm>
            <a:off x="594360" y="44531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L6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280160" y="4343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默认推手机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3291840" y="43434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不在任何名单 → 推送到手机授权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675120" y="4471416"/>
            <a:ext cx="1371600" cy="329184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675120" y="44714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320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未来规划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400800" y="365760"/>
            <a:ext cx="2286000" cy="320040"/>
          </a:xfrm>
          <a:prstGeom prst="rect">
            <a:avLst>
              <a:gd name="adj" fmla="val 14286"/>
            </a:avLst>
          </a:prstGeom>
          <a:solidFill>
            <a:srgbClr val="9945FF">
              <a:alpha val="30000"/>
            </a:srgbClr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0" y="365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MagicBlock 高频支付通道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18288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链下 Voucher 签名，亚秒级完成支付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三层架构：L1 Solana + MagicBlock ER + Off-chain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Sum-Merkle Tree 批量结算，一笔链上交易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 Gas，延迟 &lt;50ms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适用场景：高频微支付、API 按调用计费、自动售货机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Compression DID 注册表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0" y="18288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ZK Compression 的链上 DID 存储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大幅降低链上存储成本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支持海量 DID 身份注册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 Solana 链上验证的安全性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适用场景：大规模身份注册、低成本 DID 管理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1C2039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4709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当前未使用，未来考虑集成。架构已预留接口。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320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CCTP 跨链 USDC 充值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85800" y="1188720"/>
            <a:ext cx="731520" cy="731520"/>
          </a:xfrm>
          <a:prstGeom prst="ellipse">
            <a:avLst/>
          </a:prstGeom>
          <a:solidFill>
            <a:srgbClr val="15182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423160" y="1188720"/>
            <a:ext cx="731520" cy="731520"/>
          </a:xfrm>
          <a:prstGeom prst="ellipse">
            <a:avLst/>
          </a:prstGeom>
          <a:solidFill>
            <a:srgbClr val="15182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2316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194560" y="2011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60520" y="1188720"/>
            <a:ext cx="731520" cy="731520"/>
          </a:xfrm>
          <a:prstGeom prst="ellipse">
            <a:avLst/>
          </a:prstGeom>
          <a:solidFill>
            <a:srgbClr val="15182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6052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ARB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31920" y="2011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Arbitrum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97880" y="1188720"/>
            <a:ext cx="731520" cy="731520"/>
          </a:xfrm>
          <a:prstGeom prst="ellipse">
            <a:avLst/>
          </a:prstGeom>
          <a:solidFill>
            <a:srgbClr val="15182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0" y="2011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74320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Circle CCTP V2  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749040" y="3017520"/>
            <a:ext cx="1645920" cy="914400"/>
          </a:xfrm>
          <a:prstGeom prst="ellipse">
            <a:avLst/>
          </a:prstGeom>
          <a:solidFill>
            <a:srgbClr val="151829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49040" y="30175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Solana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USDC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37160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一键操作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7432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用户在源链用 MetaMask 签名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371600" y="4407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原生铸造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74320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在 Solana 上铸造等量 USDC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371600" y="4700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10-30 分钟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743200" y="4700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跨链确认时间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技术亮点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057400" cy="219456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Crates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核心库 / 链上程序 / SDK / MCP / 移动端桥接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280160"/>
            <a:ext cx="2057400" cy="219456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463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5176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4688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买家 23 个 + 商户 16 个工具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2057400" cy="219456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463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Programs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4688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(6 指令) / Session Key (4) / Merchant (3)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1280160"/>
            <a:ext cx="2057400" cy="219456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1463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04088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4688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Rust Bridge 共享加密逻辑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151829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977640"/>
            <a:ext cx="1188720" cy="274320"/>
          </a:xfrm>
          <a:prstGeom prst="rect">
            <a:avLst>
              <a:gd name="adj" fmla="val 16667"/>
            </a:avLst>
          </a:prstGeom>
          <a:solidFill>
            <a:srgbClr val="1C2039"/>
          </a:solidFill>
          <a:ln w="6350">
            <a:solidFill>
              <a:srgbClr val="9945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Axum 0.8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920240" y="3977640"/>
            <a:ext cx="1188720" cy="274320"/>
          </a:xfrm>
          <a:prstGeom prst="rect">
            <a:avLst>
              <a:gd name="adj" fmla="val 16667"/>
            </a:avLst>
          </a:prstGeom>
          <a:solidFill>
            <a:srgbClr val="1C2039"/>
          </a:solidFill>
          <a:ln w="6350">
            <a:solidFill>
              <a:srgbClr val="9945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tokio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0" y="3977640"/>
            <a:ext cx="1188720" cy="274320"/>
          </a:xfrm>
          <a:prstGeom prst="rect">
            <a:avLst>
              <a:gd name="adj" fmla="val 16667"/>
            </a:avLst>
          </a:prstGeom>
          <a:solidFill>
            <a:srgbClr val="1C2039"/>
          </a:solidFill>
          <a:ln w="6350">
            <a:solidFill>
              <a:srgbClr val="9945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480560" y="3977640"/>
            <a:ext cx="1188720" cy="274320"/>
          </a:xfrm>
          <a:prstGeom prst="rect">
            <a:avLst>
              <a:gd name="adj" fmla="val 16667"/>
            </a:avLst>
          </a:prstGeom>
          <a:solidFill>
            <a:srgbClr val="1C2039"/>
          </a:solidFill>
          <a:ln w="6350">
            <a:solidFill>
              <a:srgbClr val="9945FF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60720" y="3977640"/>
            <a:ext cx="1188720" cy="274320"/>
          </a:xfrm>
          <a:prstGeom prst="rect">
            <a:avLst>
              <a:gd name="adj" fmla="val 16667"/>
            </a:avLst>
          </a:prstGeom>
          <a:solidFill>
            <a:srgbClr val="1C2039"/>
          </a:solidFill>
          <a:ln w="6350">
            <a:solidFill>
              <a:srgbClr val="9945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40880" y="3977640"/>
            <a:ext cx="1188720" cy="274320"/>
          </a:xfrm>
          <a:prstGeom prst="rect">
            <a:avLst>
              <a:gd name="adj" fmla="val 16667"/>
            </a:avLst>
          </a:prstGeom>
          <a:solidFill>
            <a:srgbClr val="1C2039"/>
          </a:solidFill>
          <a:ln w="6350">
            <a:solidFill>
              <a:srgbClr val="9945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 Bridge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0080" y="4343400"/>
            <a:ext cx="1188720" cy="274320"/>
          </a:xfrm>
          <a:prstGeom prst="rect">
            <a:avLst>
              <a:gd name="adj" fmla="val 16667"/>
            </a:avLst>
          </a:prstGeom>
          <a:solidFill>
            <a:srgbClr val="1C2039"/>
          </a:solidFill>
          <a:ln w="6350">
            <a:solidFill>
              <a:srgbClr val="9945FF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343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PyO3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920240" y="4343400"/>
            <a:ext cx="1188720" cy="274320"/>
          </a:xfrm>
          <a:prstGeom prst="rect">
            <a:avLst>
              <a:gd name="adj" fmla="val 16667"/>
            </a:avLst>
          </a:prstGeom>
          <a:solidFill>
            <a:srgbClr val="1C2039"/>
          </a:solidFill>
          <a:ln w="6350">
            <a:solidFill>
              <a:srgbClr val="9945FF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0240" y="4343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0" y="4343400"/>
            <a:ext cx="1188720" cy="274320"/>
          </a:xfrm>
          <a:prstGeom prst="rect">
            <a:avLst>
              <a:gd name="adj" fmla="val 16667"/>
            </a:avLst>
          </a:prstGeom>
          <a:solidFill>
            <a:srgbClr val="1C2039"/>
          </a:solidFill>
          <a:ln w="6350">
            <a:solidFill>
              <a:srgbClr val="9945FF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4343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320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演示流程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188720"/>
            <a:ext cx="73152" cy="105156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8016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5544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自动支付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金额低于阈值 → MCP 自动批准 → 链上支付 → 获取资源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0" y="1463040"/>
            <a:ext cx="914400" cy="274320"/>
          </a:xfrm>
          <a:prstGeom prst="rect">
            <a:avLst>
              <a:gd name="adj" fmla="val 16667"/>
            </a:avLst>
          </a:prstGeom>
          <a:solidFill>
            <a:srgbClr val="14F195">
              <a:alpha val="20000"/>
            </a:srgbClr>
          </a:solidFill>
          <a:ln w="6350">
            <a:solidFill>
              <a:srgbClr val="14F19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x402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6675120" y="1463040"/>
            <a:ext cx="914400" cy="274320"/>
          </a:xfrm>
          <a:prstGeom prst="rect">
            <a:avLst>
              <a:gd name="adj" fmla="val 16667"/>
            </a:avLst>
          </a:prstGeom>
          <a:solidFill>
            <a:srgbClr val="14F195">
              <a:alpha val="20000"/>
            </a:srgbClr>
          </a:solidFill>
          <a:ln w="6350">
            <a:solidFill>
              <a:srgbClr val="14F19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Auto-Approve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7680960" y="1463040"/>
            <a:ext cx="914400" cy="274320"/>
          </a:xfrm>
          <a:prstGeom prst="rect">
            <a:avLst>
              <a:gd name="adj" fmla="val 16667"/>
            </a:avLst>
          </a:prstGeom>
          <a:solidFill>
            <a:srgbClr val="14F195">
              <a:alpha val="20000"/>
            </a:srgbClr>
          </a:solidFill>
          <a:ln w="6350">
            <a:solidFill>
              <a:srgbClr val="14F19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Solana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423160"/>
            <a:ext cx="73152" cy="105156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25146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155448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手机授权支付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5448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超过阈值 → DIDComm 推送 → 手机滑动确认 → Session Key 链上转账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69280" y="2697480"/>
            <a:ext cx="914400" cy="274320"/>
          </a:xfrm>
          <a:prstGeom prst="rect">
            <a:avLst>
              <a:gd name="adj" fmla="val 16667"/>
            </a:avLst>
          </a:prstGeom>
          <a:solidFill>
            <a:srgbClr val="9945FF">
              <a:alpha val="20000"/>
            </a:srgbClr>
          </a:solidFill>
          <a:ln w="6350">
            <a:solidFill>
              <a:srgbClr val="9945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DIDComm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6675120" y="2697480"/>
            <a:ext cx="914400" cy="274320"/>
          </a:xfrm>
          <a:prstGeom prst="rect">
            <a:avLst>
              <a:gd name="adj" fmla="val 16667"/>
            </a:avLst>
          </a:prstGeom>
          <a:solidFill>
            <a:srgbClr val="9945FF">
              <a:alpha val="20000"/>
            </a:srgbClr>
          </a:solidFill>
          <a:ln w="6350">
            <a:solidFill>
              <a:srgbClr val="9945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Key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7680960" y="2697480"/>
            <a:ext cx="914400" cy="274320"/>
          </a:xfrm>
          <a:prstGeom prst="rect">
            <a:avLst>
              <a:gd name="adj" fmla="val 16667"/>
            </a:avLst>
          </a:prstGeom>
          <a:solidFill>
            <a:srgbClr val="9945FF">
              <a:alpha val="20000"/>
            </a:srgbClr>
          </a:solidFill>
          <a:ln w="6350">
            <a:solidFill>
              <a:srgbClr val="9945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096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 Auth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94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适用场景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057400" cy="329184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80160"/>
            <a:ext cx="2057400" cy="45720"/>
          </a:xfrm>
          <a:prstGeom prst="rect">
            <a:avLst/>
          </a:prstGeom>
          <a:solidFill>
            <a:srgbClr val="14F19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54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开发者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743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构建可自主支付的 Agent，访问付费 API、数据源、算力，保留人类监督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68880" y="1280160"/>
            <a:ext cx="2057400" cy="329184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68880" y="1280160"/>
            <a:ext cx="2057400" cy="45720"/>
          </a:xfrm>
          <a:prstGeom prst="rect">
            <a:avLst/>
          </a:prstGeom>
          <a:solidFill>
            <a:srgbClr val="9945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5544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商户 / 服务商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651760" y="2743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接受 x402 Agent 支付 + 消费者扫码支付，注册链上身份获取信任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1280160"/>
            <a:ext cx="2057400" cy="329184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63440" y="1280160"/>
            <a:ext cx="205740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5544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4632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消费者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846320" y="2743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扫码微支付（咖啡、自动售货机），授权 Agent 支付，跨链 USDC 充值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58000" y="1280160"/>
            <a:ext cx="2057400" cy="3291840"/>
          </a:xfrm>
          <a:prstGeom prst="rect">
            <a:avLst/>
          </a:prstGeom>
          <a:solidFill>
            <a:srgbClr val="1518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0" y="1280160"/>
            <a:ext cx="2057400" cy="457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55448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企业场景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40880" y="27432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Relayer 代付模式，零 Gas 门槛用户引导，批量微支付结算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9945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4F195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14F1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Ignite Pay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73152" cy="27432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自主支付 + 人类实时授权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73152" cy="27432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48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DIDComm v2 端到端加密 — 中继零知识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7315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560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条支付路径 — 自动选择最优方案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73152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71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层风控 — 黑名单到白名单全覆盖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73152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383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CCTP 跨链 USDC — 一键 EVM 到 Solana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86000" y="3931920"/>
            <a:ext cx="4572000" cy="640080"/>
          </a:xfrm>
          <a:prstGeom prst="rect">
            <a:avLst/>
          </a:prstGeom>
          <a:solidFill>
            <a:srgbClr val="14F19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0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0D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 Agent 经济构建支付基础设施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Ignite Pay — Agent Payment Infrastructure</dc:title>
  <dc:subject>PptxGenJS Presentation</dc:subject>
  <dc:creator>Ignite Pay</dc:creator>
  <cp:lastModifiedBy>Ignite Pay</cp:lastModifiedBy>
  <cp:revision>1</cp:revision>
  <dcterms:created xsi:type="dcterms:W3CDTF">2026-05-08T04:49:55Z</dcterms:created>
  <dcterms:modified xsi:type="dcterms:W3CDTF">2026-05-08T04:49:55Z</dcterms:modified>
</cp:coreProperties>
</file>