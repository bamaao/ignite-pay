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371600"/>
            <a:ext cx="4572000" cy="4572000"/>
          </a:xfrm>
          <a:prstGeom prst="ellipse">
            <a:avLst/>
          </a:prstGeom>
          <a:solidFill>
            <a:srgbClr val="9945FF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914400" y="2743200"/>
            <a:ext cx="3657600" cy="3657600"/>
          </a:xfrm>
          <a:prstGeom prst="ellipse">
            <a:avLst/>
          </a:prstGeom>
          <a:solidFill>
            <a:srgbClr val="14F195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14F1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ECONOMY PAYMENT INFRASTRUCTURE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Ignite Pay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731520" y="28346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14F1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 </a:t>
            </a:r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遇到付费墙，自动发起支付
</a:t>
            </a:r>
            <a:pPr indent="0" marL="0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D4A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 </a:t>
            </a:r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在手机上滑动确认，</a:t>
            </a:r>
            <a:pPr indent="0" marL="0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14F1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Solana </a:t>
            </a:r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链上结算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31520" y="4206240"/>
            <a:ext cx="1554480" cy="320040"/>
          </a:xfrm>
          <a:prstGeom prst="rect">
            <a:avLst>
              <a:gd name="adj" fmla="val 14286"/>
            </a:avLst>
          </a:prstGeom>
          <a:solidFill>
            <a:srgbClr val="151829"/>
          </a:solidFill>
          <a:ln w="12700">
            <a:solidFill>
              <a:srgbClr val="9945FF">
                <a:alpha val="5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2062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A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x402 Protocol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68880" y="4206240"/>
            <a:ext cx="1554480" cy="320040"/>
          </a:xfrm>
          <a:prstGeom prst="rect">
            <a:avLst>
              <a:gd name="adj" fmla="val 14286"/>
            </a:avLst>
          </a:prstGeom>
          <a:solidFill>
            <a:srgbClr val="151829"/>
          </a:solidFill>
          <a:ln w="12700">
            <a:solidFill>
              <a:srgbClr val="9945FF">
                <a:alpha val="5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68880" y="42062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A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Solana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06240" y="4206240"/>
            <a:ext cx="1554480" cy="320040"/>
          </a:xfrm>
          <a:prstGeom prst="rect">
            <a:avLst>
              <a:gd name="adj" fmla="val 14286"/>
            </a:avLst>
          </a:prstGeom>
          <a:solidFill>
            <a:srgbClr val="151829"/>
          </a:solidFill>
          <a:ln w="12700">
            <a:solidFill>
              <a:srgbClr val="9945FF">
                <a:alpha val="5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06240" y="42062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A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DIDComm v2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943600" y="4206240"/>
            <a:ext cx="1554480" cy="320040"/>
          </a:xfrm>
          <a:prstGeom prst="rect">
            <a:avLst>
              <a:gd name="adj" fmla="val 14286"/>
            </a:avLst>
          </a:prstGeom>
          <a:solidFill>
            <a:srgbClr val="151829"/>
          </a:solidFill>
          <a:ln w="12700">
            <a:solidFill>
              <a:srgbClr val="9945FF">
                <a:alpha val="5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0" y="42062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4A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MagicBlock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Agent 需要付费，但谁来授权？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1874520" cy="274320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057400"/>
            <a:ext cx="411480" cy="411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26060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自主性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14400" y="3017520"/>
            <a:ext cx="1508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 执行任务时需要访问付费 API、数据源、算力资源，但无法自行判断是否该付这笔钱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788920" y="1828800"/>
            <a:ext cx="1874520" cy="274320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800" y="2057400"/>
            <a:ext cx="411480" cy="4114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971800" y="26060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安全风险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2971800" y="3017520"/>
            <a:ext cx="1508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完全自动化支付 = 私钥暴露给 Agent，一旦 Agent 被劫持，资金安全无保障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4846320" y="1828800"/>
            <a:ext cx="1874520" cy="274320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2057400"/>
            <a:ext cx="411480" cy="4114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029200" y="26060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隐私挑战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5029200" y="3017520"/>
            <a:ext cx="1508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与用户之间的通信需要端到端加密，中继服务器不应读取支付指令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6903720" y="1828800"/>
            <a:ext cx="1874520" cy="274320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0" y="2057400"/>
            <a:ext cx="411480" cy="4114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7086600" y="260604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效率要求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7086600" y="3017520"/>
            <a:ext cx="1508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高频微支付场景（API 调用、内容付费）需要亚秒级延迟和零 Gas 成本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14F1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 遇到付费墙 → MCP 编排 → 手机授权 → 链上支付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960120" y="1737360"/>
            <a:ext cx="640080" cy="64008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0" y="17830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5556A"/>
                </a:solidFill>
              </a:rPr>
              <a:t>→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02920" y="25146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请求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28346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外部服务返回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402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697480" y="1737360"/>
            <a:ext cx="640080" cy="640080"/>
          </a:xfrm>
          <a:prstGeom prst="ellipse">
            <a:avLst/>
          </a:prstGeom>
          <a:solidFill>
            <a:srgbClr val="9945FF"/>
          </a:solidFill>
          <a:ln/>
        </p:spPr>
      </p:sp>
      <p:sp>
        <p:nvSpPr>
          <p:cNvPr id="10" name="Text 8"/>
          <p:cNvSpPr/>
          <p:nvPr/>
        </p:nvSpPr>
        <p:spPr>
          <a:xfrm>
            <a:off x="269748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383280" y="17830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5556A"/>
                </a:solidFill>
              </a:rPr>
              <a:t>→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2240280" y="25146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处理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240280" y="28346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解析 x402 挑战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风控决策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434840" y="1737360"/>
            <a:ext cx="640080" cy="640080"/>
          </a:xfrm>
          <a:prstGeom prst="ellipse">
            <a:avLst/>
          </a:prstGeom>
          <a:solidFill>
            <a:srgbClr val="14F195"/>
          </a:solidFill>
          <a:ln/>
        </p:spPr>
      </p:sp>
      <p:sp>
        <p:nvSpPr>
          <p:cNvPr id="15" name="Text 13"/>
          <p:cNvSpPr/>
          <p:nvPr/>
        </p:nvSpPr>
        <p:spPr>
          <a:xfrm>
            <a:off x="443484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120640" y="17830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5556A"/>
                </a:solidFill>
              </a:rPr>
              <a:t>→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3977640" y="25146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手机授权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977640" y="28346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DIDComm 加密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滑动确认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72200" y="173736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617220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858000" y="17830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5556A"/>
                </a:solidFill>
              </a:rPr>
              <a:t>→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5715000" y="25146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链上支付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715000" y="28346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Key /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MagicBlock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909560" y="1737360"/>
            <a:ext cx="640080" cy="640080"/>
          </a:xfrm>
          <a:prstGeom prst="ellipse">
            <a:avLst/>
          </a:prstGeom>
          <a:solidFill>
            <a:srgbClr val="0D9B6A"/>
          </a:solidFill>
          <a:ln/>
        </p:spPr>
      </p:sp>
      <p:sp>
        <p:nvSpPr>
          <p:cNvPr id="25" name="Text 23"/>
          <p:cNvSpPr/>
          <p:nvPr/>
        </p:nvSpPr>
        <p:spPr>
          <a:xfrm>
            <a:off x="790956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452360" y="25146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获取资源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452360" y="28346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携带凭证重试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200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7200" y="3749040"/>
            <a:ext cx="8229600" cy="100584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3840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端到端加密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0080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DIDComm v2 JWE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651760" y="3840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多路径支付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651760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种支付方式自动选择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663440" y="3840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六层风控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663440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黑名单到白名单全覆盖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675120" y="3840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亚秒结算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675120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MagicBlock &lt;50ms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994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5486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四层架构设计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59436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371600"/>
            <a:ext cx="73152" cy="594360"/>
          </a:xfrm>
          <a:prstGeom prst="rect">
            <a:avLst/>
          </a:prstGeom>
          <a:solidFill>
            <a:srgbClr val="14F19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Layer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017520" y="137160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  |  Buyer App  |  Merchant App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8229600" cy="59436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2103120"/>
            <a:ext cx="73152" cy="594360"/>
          </a:xfrm>
          <a:prstGeom prst="rect">
            <a:avLst/>
          </a:prstGeom>
          <a:solidFill>
            <a:srgbClr val="9945F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94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Layer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017520" y="210312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 MCP (23 Tools)  |  Merchant MCP (16 Tools)  |  Hub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8229600" cy="59436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" y="2834640"/>
            <a:ext cx="73152" cy="59436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83464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Communication Layer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017520" y="283464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DIDComm v2 Mediator  |  JWE Authcrypt  |  Ed25519 + X25519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566160"/>
            <a:ext cx="8229600" cy="59436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3566160"/>
            <a:ext cx="73152" cy="5943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56616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On-chain Layer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017520" y="356616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Solana Settlement  |  MagicBlock ER  |  ZK Compression DID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389120"/>
            <a:ext cx="3840480" cy="457200"/>
          </a:xfrm>
          <a:prstGeom prst="rect">
            <a:avLst/>
          </a:prstGeom>
          <a:solidFill>
            <a:srgbClr val="1C2039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43891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MCP-First: JSON-RPC 2.0 工具协议，兼容 Claude / Cursor 等客户端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846320" y="4389120"/>
            <a:ext cx="3840480" cy="457200"/>
          </a:xfrm>
          <a:prstGeom prst="rect">
            <a:avLst/>
          </a:prstGeom>
          <a:solidFill>
            <a:srgbClr val="1C2039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0" y="43891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+ Rust Bridge 移动端，共享加密与业务逻辑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34440" y="3200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 自主支付 + 人类授权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457200" y="1097280"/>
            <a:ext cx="3931920" cy="347472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457200" y="1097280"/>
            <a:ext cx="3931920" cy="54864"/>
          </a:xfrm>
          <a:prstGeom prst="rect">
            <a:avLst/>
          </a:prstGeom>
          <a:solidFill>
            <a:srgbClr val="14F195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自动通过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31520" y="182880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白名单商户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金额低于全局阈值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无需通知用户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直接执行链上支付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31520" y="34747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F1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零延迟 | 零用户交互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754880" y="1097280"/>
            <a:ext cx="3931920" cy="347472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54880" y="1097280"/>
            <a:ext cx="3931920" cy="54864"/>
          </a:xfrm>
          <a:prstGeom prst="rect">
            <a:avLst/>
          </a:prstGeom>
          <a:solidFill>
            <a:srgbClr val="9945FF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0" y="13258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4A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手机授权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5029200" y="182880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新商户 / 超额支付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DIDComm 加密推送授权请求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手机一划确认 / 拒绝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创建临时 Session Key 执行支付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029200" y="34747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端到端加密 | 临时密钥隔离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34440" y="3200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多路径支付引擎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274320" y="1097280"/>
            <a:ext cx="1645920" cy="329184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274320" y="1097280"/>
            <a:ext cx="1645920" cy="45720"/>
          </a:xfrm>
          <a:prstGeom prst="rect">
            <a:avLst/>
          </a:prstGeom>
          <a:solidFill>
            <a:srgbClr val="14F195"/>
          </a:solidFill>
          <a:ln/>
        </p:spPr>
      </p:sp>
      <p:sp>
        <p:nvSpPr>
          <p:cNvPr id="6" name="Text 3"/>
          <p:cNvSpPr/>
          <p:nvPr/>
        </p:nvSpPr>
        <p:spPr>
          <a:xfrm>
            <a:off x="411480" y="12801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MagicBlock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11480" y="17373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&lt;50ms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411480" y="21031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延迟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11480" y="2514600"/>
            <a:ext cx="1371600" cy="274320"/>
          </a:xfrm>
          <a:prstGeom prst="rect">
            <a:avLst/>
          </a:prstGeom>
          <a:solidFill>
            <a:srgbClr val="1C2039"/>
          </a:solidFill>
          <a:ln/>
        </p:spPr>
      </p:sp>
      <p:sp>
        <p:nvSpPr>
          <p:cNvPr id="10" name="Text 7"/>
          <p:cNvSpPr/>
          <p:nvPr/>
        </p:nvSpPr>
        <p:spPr>
          <a:xfrm>
            <a:off x="411480" y="2514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C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Gas: Free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11480" y="301752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链下 Voucher 签名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批量 Merkle 结算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057400" y="1097280"/>
            <a:ext cx="1645920" cy="329184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057400" y="1097280"/>
            <a:ext cx="1645920" cy="45720"/>
          </a:xfrm>
          <a:prstGeom prst="rect">
            <a:avLst/>
          </a:prstGeom>
          <a:solidFill>
            <a:srgbClr val="9945FF"/>
          </a:solidFill>
          <a:ln/>
        </p:spPr>
      </p:sp>
      <p:sp>
        <p:nvSpPr>
          <p:cNvPr id="14" name="Text 11"/>
          <p:cNvSpPr/>
          <p:nvPr/>
        </p:nvSpPr>
        <p:spPr>
          <a:xfrm>
            <a:off x="2194560" y="12801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94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Key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2194560" y="17373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~400ms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2194560" y="21031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延迟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2194560" y="2514600"/>
            <a:ext cx="1371600" cy="274320"/>
          </a:xfrm>
          <a:prstGeom prst="rect">
            <a:avLst/>
          </a:prstGeom>
          <a:solidFill>
            <a:srgbClr val="1C2039"/>
          </a:solidFill>
          <a:ln/>
        </p:spPr>
      </p:sp>
      <p:sp>
        <p:nvSpPr>
          <p:cNvPr id="18" name="Text 15"/>
          <p:cNvSpPr/>
          <p:nvPr/>
        </p:nvSpPr>
        <p:spPr>
          <a:xfrm>
            <a:off x="2194560" y="2514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C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Gas: Normal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2194560" y="301752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链上 SOL/SPL 转账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临时密钥授权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840480" y="1097280"/>
            <a:ext cx="1645920" cy="329184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840480" y="1097280"/>
            <a:ext cx="1645920" cy="4572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2" name="Text 19"/>
          <p:cNvSpPr/>
          <p:nvPr/>
        </p:nvSpPr>
        <p:spPr>
          <a:xfrm>
            <a:off x="3977640" y="12801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Wallet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3977640" y="17373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~400ms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3977640" y="21031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延迟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3977640" y="2514600"/>
            <a:ext cx="1371600" cy="274320"/>
          </a:xfrm>
          <a:prstGeom prst="rect">
            <a:avLst/>
          </a:prstGeom>
          <a:solidFill>
            <a:srgbClr val="1C2039"/>
          </a:solidFill>
          <a:ln/>
        </p:spPr>
      </p:sp>
      <p:sp>
        <p:nvSpPr>
          <p:cNvPr id="26" name="Text 23"/>
          <p:cNvSpPr/>
          <p:nvPr/>
        </p:nvSpPr>
        <p:spPr>
          <a:xfrm>
            <a:off x="3977640" y="2514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C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Gas: Normal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3977640" y="301752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Phantom / Solflare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Link 签名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5623560" y="1097280"/>
            <a:ext cx="1645920" cy="329184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5623560" y="1097280"/>
            <a:ext cx="164592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0" name="Text 27"/>
          <p:cNvSpPr/>
          <p:nvPr/>
        </p:nvSpPr>
        <p:spPr>
          <a:xfrm>
            <a:off x="5760720" y="12801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Relayer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5760720" y="17373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~400ms</a:t>
            </a:r>
            <a:endParaRPr lang="en-US" sz="2000" dirty="0"/>
          </a:p>
        </p:txBody>
      </p:sp>
      <p:sp>
        <p:nvSpPr>
          <p:cNvPr id="32" name="Text 29"/>
          <p:cNvSpPr/>
          <p:nvPr/>
        </p:nvSpPr>
        <p:spPr>
          <a:xfrm>
            <a:off x="5760720" y="21031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延迟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5760720" y="2514600"/>
            <a:ext cx="1371600" cy="274320"/>
          </a:xfrm>
          <a:prstGeom prst="rect">
            <a:avLst/>
          </a:prstGeom>
          <a:solidFill>
            <a:srgbClr val="1C2039"/>
          </a:solidFill>
          <a:ln/>
        </p:spPr>
      </p:sp>
      <p:sp>
        <p:nvSpPr>
          <p:cNvPr id="34" name="Text 31"/>
          <p:cNvSpPr/>
          <p:nvPr/>
        </p:nvSpPr>
        <p:spPr>
          <a:xfrm>
            <a:off x="5760720" y="2514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C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Gas: Sponsored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5760720" y="301752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代付 Gas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零门槛用户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7406640" y="1097280"/>
            <a:ext cx="1645920" cy="329184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7406640" y="1097280"/>
            <a:ext cx="1645920" cy="457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8" name="Text 35"/>
          <p:cNvSpPr/>
          <p:nvPr/>
        </p:nvSpPr>
        <p:spPr>
          <a:xfrm>
            <a:off x="7543800" y="12801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CCTP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7543800" y="17373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10-30min</a:t>
            </a:r>
            <a:endParaRPr lang="en-US" sz="2000" dirty="0"/>
          </a:p>
        </p:txBody>
      </p:sp>
      <p:sp>
        <p:nvSpPr>
          <p:cNvPr id="40" name="Text 37"/>
          <p:cNvSpPr/>
          <p:nvPr/>
        </p:nvSpPr>
        <p:spPr>
          <a:xfrm>
            <a:off x="7543800" y="21031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延迟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7543800" y="2514600"/>
            <a:ext cx="1371600" cy="274320"/>
          </a:xfrm>
          <a:prstGeom prst="rect">
            <a:avLst/>
          </a:prstGeom>
          <a:solidFill>
            <a:srgbClr val="1C2039"/>
          </a:solidFill>
          <a:ln/>
        </p:spPr>
      </p:sp>
      <p:sp>
        <p:nvSpPr>
          <p:cNvPr id="42" name="Text 39"/>
          <p:cNvSpPr/>
          <p:nvPr/>
        </p:nvSpPr>
        <p:spPr>
          <a:xfrm>
            <a:off x="7543800" y="2514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C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Gas: Source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7543800" y="301752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跨链 USDC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EVM → Solana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34440" y="3200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DIDComm v2 端到端加密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685800" y="1280160"/>
            <a:ext cx="731520" cy="731520"/>
          </a:xfrm>
          <a:prstGeom prst="ellipse">
            <a:avLst/>
          </a:prstGeom>
          <a:solidFill>
            <a:srgbClr val="9945FF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685800" y="1280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21488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支付授权请求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2606040" y="1280160"/>
            <a:ext cx="731520" cy="731520"/>
          </a:xfrm>
          <a:prstGeom prst="ellipse">
            <a:avLst/>
          </a:prstGeom>
          <a:solidFill>
            <a:srgbClr val="EF4444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2606040" y="1280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JWE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377440" y="21488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Authcrypt 加密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526280" y="1280160"/>
            <a:ext cx="731520" cy="731520"/>
          </a:xfrm>
          <a:prstGeom prst="ellipse">
            <a:avLst/>
          </a:prstGeom>
          <a:solidFill>
            <a:srgbClr val="9945FF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4526280" y="1280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Mediator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297680" y="21488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中继转发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(无法解密)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897880" y="1280160"/>
            <a:ext cx="731520" cy="731520"/>
          </a:xfrm>
          <a:prstGeom prst="ellipse">
            <a:avLst/>
          </a:prstGeom>
          <a:solidFill>
            <a:srgbClr val="EF4444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5897880" y="1280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JWE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669280" y="21488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密文传输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7543800" y="1280160"/>
            <a:ext cx="731520" cy="731520"/>
          </a:xfrm>
          <a:prstGeom prst="ellipse">
            <a:avLst/>
          </a:prstGeom>
          <a:solidFill>
            <a:srgbClr val="9945FF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543800" y="1280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15200" y="21488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解密并展示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50876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5556A"/>
                </a:solidFill>
              </a:rPr>
              <a:t>→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342900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5556A"/>
                </a:solidFill>
              </a:rPr>
              <a:t>→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534924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5556A"/>
                </a:solidFill>
              </a:rPr>
              <a:t>→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672084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5556A"/>
                </a:solidFill>
              </a:rPr>
              <a:t>→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457200" y="3017520"/>
            <a:ext cx="8229600" cy="41148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24" name="Text 21"/>
          <p:cNvSpPr/>
          <p:nvPr/>
        </p:nvSpPr>
        <p:spPr>
          <a:xfrm>
            <a:off x="731520" y="30175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加密算法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2560320" y="301752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JWE Authcrypt (X25519 key agreement)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3493008"/>
            <a:ext cx="8229600" cy="41148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27" name="Text 24"/>
          <p:cNvSpPr/>
          <p:nvPr/>
        </p:nvSpPr>
        <p:spPr>
          <a:xfrm>
            <a:off x="731520" y="349300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签名算法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2560320" y="3493008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Ed25519 签名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968496"/>
            <a:ext cx="8229600" cy="41148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30" name="Text 27"/>
          <p:cNvSpPr/>
          <p:nvPr/>
        </p:nvSpPr>
        <p:spPr>
          <a:xfrm>
            <a:off x="731520" y="3968496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身份标识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2560320" y="3968496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did:ignite:z6Mk... (Ed25519 多基数编码)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57200" y="4443984"/>
            <a:ext cx="8229600" cy="41148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33" name="Text 30"/>
          <p:cNvSpPr/>
          <p:nvPr/>
        </p:nvSpPr>
        <p:spPr>
          <a:xfrm>
            <a:off x="731520" y="444398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中继安全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2560320" y="4443984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中继服务器零知识 — 只能看到密文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34440" y="3200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六层风控体系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457200" y="1051560"/>
            <a:ext cx="8229600" cy="59436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5" name="Shape 2"/>
          <p:cNvSpPr/>
          <p:nvPr/>
        </p:nvSpPr>
        <p:spPr>
          <a:xfrm>
            <a:off x="594360" y="1161288"/>
            <a:ext cx="502920" cy="3657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6" name="Text 3"/>
          <p:cNvSpPr/>
          <p:nvPr/>
        </p:nvSpPr>
        <p:spPr>
          <a:xfrm>
            <a:off x="594360" y="116128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280160" y="105156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黑名单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3291840" y="105156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商户在黑名单 → 直接拒绝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675120" y="1179576"/>
            <a:ext cx="1371600" cy="329184"/>
          </a:xfrm>
          <a:prstGeom prst="rect">
            <a:avLst/>
          </a:prstGeom>
          <a:solidFill>
            <a:srgbClr val="EF4444">
              <a:alpha val="20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675120" y="117957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REJECT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457200" y="1709928"/>
            <a:ext cx="8229600" cy="59436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12" name="Shape 9"/>
          <p:cNvSpPr/>
          <p:nvPr/>
        </p:nvSpPr>
        <p:spPr>
          <a:xfrm>
            <a:off x="594360" y="1819656"/>
            <a:ext cx="502920" cy="3657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3" name="Text 10"/>
          <p:cNvSpPr/>
          <p:nvPr/>
        </p:nvSpPr>
        <p:spPr>
          <a:xfrm>
            <a:off x="594360" y="181965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L2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280160" y="1709928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IPFS CID 黑名单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291840" y="170992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内容哈希在黑名单 → 拒绝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675120" y="1837944"/>
            <a:ext cx="1371600" cy="329184"/>
          </a:xfrm>
          <a:prstGeom prst="rect">
            <a:avLst/>
          </a:prstGeom>
          <a:solidFill>
            <a:srgbClr val="EF4444">
              <a:alpha val="20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675120" y="183794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REJECT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457200" y="2368296"/>
            <a:ext cx="8229600" cy="59436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19" name="Shape 16"/>
          <p:cNvSpPr/>
          <p:nvPr/>
        </p:nvSpPr>
        <p:spPr>
          <a:xfrm>
            <a:off x="594360" y="2478024"/>
            <a:ext cx="502920" cy="3657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7"/>
          <p:cNvSpPr/>
          <p:nvPr/>
        </p:nvSpPr>
        <p:spPr>
          <a:xfrm>
            <a:off x="594360" y="2478024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L3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280160" y="2368296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单笔限额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291840" y="2368296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金额超过配置阈值 → 需授权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675120" y="2496312"/>
            <a:ext cx="1371600" cy="329184"/>
          </a:xfrm>
          <a:prstGeom prst="rect">
            <a:avLst/>
          </a:prstGeom>
          <a:solidFill>
            <a:srgbClr val="F59E0B">
              <a:alpha val="2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675120" y="249631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AUTHORIZE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026664"/>
            <a:ext cx="8229600" cy="59436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26" name="Shape 23"/>
          <p:cNvSpPr/>
          <p:nvPr/>
        </p:nvSpPr>
        <p:spPr>
          <a:xfrm>
            <a:off x="594360" y="3136392"/>
            <a:ext cx="502920" cy="365760"/>
          </a:xfrm>
          <a:prstGeom prst="rect">
            <a:avLst/>
          </a:prstGeom>
          <a:solidFill>
            <a:srgbClr val="14F195"/>
          </a:solidFill>
          <a:ln/>
        </p:spPr>
      </p:sp>
      <p:sp>
        <p:nvSpPr>
          <p:cNvPr id="27" name="Text 24"/>
          <p:cNvSpPr/>
          <p:nvPr/>
        </p:nvSpPr>
        <p:spPr>
          <a:xfrm>
            <a:off x="594360" y="313639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L4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1280160" y="3026664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白名单自动通过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3291840" y="3026664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信任商户 + 额度内 → 自动批准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675120" y="3154680"/>
            <a:ext cx="1371600" cy="329184"/>
          </a:xfrm>
          <a:prstGeom prst="rect">
            <a:avLst/>
          </a:prstGeom>
          <a:solidFill>
            <a:srgbClr val="14F195">
              <a:alpha val="20000"/>
            </a:srgbClr>
          </a:solidFill>
          <a:ln w="12700">
            <a:solidFill>
              <a:srgbClr val="14F19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675120" y="315468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4F1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 APPROVE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457200" y="3685032"/>
            <a:ext cx="8229600" cy="59436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33" name="Shape 30"/>
          <p:cNvSpPr/>
          <p:nvPr/>
        </p:nvSpPr>
        <p:spPr>
          <a:xfrm>
            <a:off x="594360" y="3794760"/>
            <a:ext cx="502920" cy="365760"/>
          </a:xfrm>
          <a:prstGeom prst="rect">
            <a:avLst/>
          </a:prstGeom>
          <a:solidFill>
            <a:srgbClr val="14F195"/>
          </a:solidFill>
          <a:ln/>
        </p:spPr>
      </p:sp>
      <p:sp>
        <p:nvSpPr>
          <p:cNvPr id="34" name="Text 31"/>
          <p:cNvSpPr/>
          <p:nvPr/>
        </p:nvSpPr>
        <p:spPr>
          <a:xfrm>
            <a:off x="594360" y="37947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L5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1280160" y="3685032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IPFS CID 白名单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3291840" y="3685032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信任内容源 → 自动批准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6675120" y="3813048"/>
            <a:ext cx="1371600" cy="329184"/>
          </a:xfrm>
          <a:prstGeom prst="rect">
            <a:avLst/>
          </a:prstGeom>
          <a:solidFill>
            <a:srgbClr val="14F195">
              <a:alpha val="20000"/>
            </a:srgbClr>
          </a:solidFill>
          <a:ln w="12700">
            <a:solidFill>
              <a:srgbClr val="14F195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675120" y="381304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4F1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 APPROVE</a:t>
            </a:r>
            <a:endParaRPr lang="en-US" sz="800" dirty="0"/>
          </a:p>
        </p:txBody>
      </p:sp>
      <p:sp>
        <p:nvSpPr>
          <p:cNvPr id="39" name="Shape 36"/>
          <p:cNvSpPr/>
          <p:nvPr/>
        </p:nvSpPr>
        <p:spPr>
          <a:xfrm>
            <a:off x="457200" y="4343400"/>
            <a:ext cx="8229600" cy="59436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40" name="Shape 37"/>
          <p:cNvSpPr/>
          <p:nvPr/>
        </p:nvSpPr>
        <p:spPr>
          <a:xfrm>
            <a:off x="594360" y="4453128"/>
            <a:ext cx="502920" cy="36576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1" name="Text 38"/>
          <p:cNvSpPr/>
          <p:nvPr/>
        </p:nvSpPr>
        <p:spPr>
          <a:xfrm>
            <a:off x="594360" y="445312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L6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1280160" y="434340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默认推手机</a:t>
            </a:r>
            <a:endParaRPr lang="en-US" sz="1300" dirty="0"/>
          </a:p>
        </p:txBody>
      </p:sp>
      <p:sp>
        <p:nvSpPr>
          <p:cNvPr id="43" name="Text 40"/>
          <p:cNvSpPr/>
          <p:nvPr/>
        </p:nvSpPr>
        <p:spPr>
          <a:xfrm>
            <a:off x="3291840" y="434340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不在任何名单 → 推送到手机授权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6675120" y="4471416"/>
            <a:ext cx="1371600" cy="329184"/>
          </a:xfrm>
          <a:prstGeom prst="rect">
            <a:avLst/>
          </a:prstGeom>
          <a:solidFill>
            <a:srgbClr val="6366F1">
              <a:alpha val="20000"/>
            </a:srgbClr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675120" y="447141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AUTHORIZE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34440" y="3200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MagicBlock 高频支付通道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457200" y="1188720"/>
            <a:ext cx="4114800" cy="73152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457200" y="1188720"/>
            <a:ext cx="73152" cy="731520"/>
          </a:xfrm>
          <a:prstGeom prst="rect">
            <a:avLst/>
          </a:prstGeom>
          <a:solidFill>
            <a:srgbClr val="9945FF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18872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94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Solana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2377440" y="11887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通道创建 / 资金锁定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签名验证 / 批量结算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57200" y="2103120"/>
            <a:ext cx="4114800" cy="73152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57200" y="2103120"/>
            <a:ext cx="73152" cy="731520"/>
          </a:xfrm>
          <a:prstGeom prst="rect">
            <a:avLst/>
          </a:prstGeom>
          <a:solidFill>
            <a:srgbClr val="14F195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" y="210312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MagicBlock ER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2377440" y="21031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高速状态转移 (&lt;50ms)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免 Gas / 实时 Voucher 记录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3017520"/>
            <a:ext cx="4114800" cy="73152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7200" y="3017520"/>
            <a:ext cx="73152" cy="7315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4" name="Text 11"/>
          <p:cNvSpPr/>
          <p:nvPr/>
        </p:nvSpPr>
        <p:spPr>
          <a:xfrm>
            <a:off x="731520" y="301752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Off-chain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2377440" y="30175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争议窗口 / 挑战机制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Sum-Merkle Proof 欺诈证明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029200" y="1188720"/>
            <a:ext cx="3657600" cy="73152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17" name="Text 14"/>
          <p:cNvSpPr/>
          <p:nvPr/>
        </p:nvSpPr>
        <p:spPr>
          <a:xfrm>
            <a:off x="5303520" y="118872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4F19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&lt;50ms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6949440" y="118872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支付延迟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029200" y="2103120"/>
            <a:ext cx="3657600" cy="73152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20" name="Text 17"/>
          <p:cNvSpPr/>
          <p:nvPr/>
        </p:nvSpPr>
        <p:spPr>
          <a:xfrm>
            <a:off x="5303520" y="210312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4F19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 Gas</a:t>
            </a:r>
            <a:endParaRPr lang="en-US" sz="2400" dirty="0"/>
          </a:p>
        </p:txBody>
      </p:sp>
      <p:sp>
        <p:nvSpPr>
          <p:cNvPr id="21" name="Text 18"/>
          <p:cNvSpPr/>
          <p:nvPr/>
        </p:nvSpPr>
        <p:spPr>
          <a:xfrm>
            <a:off x="6949440" y="210312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成本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029200" y="3017520"/>
            <a:ext cx="3657600" cy="73152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23" name="Text 20"/>
          <p:cNvSpPr/>
          <p:nvPr/>
        </p:nvSpPr>
        <p:spPr>
          <a:xfrm>
            <a:off x="5303520" y="301752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4F19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Batch</a:t>
            </a:r>
            <a:endParaRPr lang="en-US" sz="2400" dirty="0"/>
          </a:p>
        </p:txBody>
      </p:sp>
      <p:sp>
        <p:nvSpPr>
          <p:cNvPr id="24" name="Text 21"/>
          <p:cNvSpPr/>
          <p:nvPr/>
        </p:nvSpPr>
        <p:spPr>
          <a:xfrm>
            <a:off x="6949440" y="301752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Merkle 结算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1C2039"/>
          </a:solidFill>
          <a:ln/>
        </p:spPr>
      </p:sp>
      <p:sp>
        <p:nvSpPr>
          <p:cNvPr id="26" name="Text 23"/>
          <p:cNvSpPr/>
          <p:nvPr/>
        </p:nvSpPr>
        <p:spPr>
          <a:xfrm>
            <a:off x="731520" y="40233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F1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Voucher = SHA256(channel_id || seq || amount) + Ed25519 Signature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34440" y="3200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CCTP 跨链 USDC 充值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685800" y="1188720"/>
            <a:ext cx="731520" cy="731520"/>
          </a:xfrm>
          <a:prstGeom prst="ellipse">
            <a:avLst/>
          </a:prstGeom>
          <a:solidFill>
            <a:srgbClr val="151829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85800" y="11887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366F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ETH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201168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Ethereum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2423160" y="1188720"/>
            <a:ext cx="731520" cy="731520"/>
          </a:xfrm>
          <a:prstGeom prst="ellipse">
            <a:avLst/>
          </a:prstGeom>
          <a:solidFill>
            <a:srgbClr val="151829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423160" y="11887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366F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194560" y="201168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160520" y="1188720"/>
            <a:ext cx="731520" cy="731520"/>
          </a:xfrm>
          <a:prstGeom prst="ellipse">
            <a:avLst/>
          </a:prstGeom>
          <a:solidFill>
            <a:srgbClr val="151829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160520" y="11887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366F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ARB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3931920" y="201168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Arbitrum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897880" y="1188720"/>
            <a:ext cx="731520" cy="731520"/>
          </a:xfrm>
          <a:prstGeom prst="ellipse">
            <a:avLst/>
          </a:prstGeom>
          <a:solidFill>
            <a:srgbClr val="151829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897880" y="11887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366F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OPT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669280" y="201168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Optimism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2743200" y="2468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4F1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Circle CCTP V2  →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749040" y="3017520"/>
            <a:ext cx="1645920" cy="914400"/>
          </a:xfrm>
          <a:prstGeom prst="ellipse">
            <a:avLst/>
          </a:prstGeom>
          <a:solidFill>
            <a:srgbClr val="151829"/>
          </a:solidFill>
          <a:ln w="25400">
            <a:solidFill>
              <a:srgbClr val="14F19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749040" y="301752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4F19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Solana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4F19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USDC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371600" y="4114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一键操作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2743200" y="4114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用户在源链用 MetaMask 签名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371600" y="440740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原生铸造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2743200" y="44074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 在 Solana 上铸造等量 USDC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1371600" y="47000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10-30 分钟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2743200" y="470001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跨链确认时间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14F1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TECH STACK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5486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技术亮点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280160"/>
            <a:ext cx="2057400" cy="219456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4630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4F19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17+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Rust Crates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4688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核心库 / 链上程序 / SDK / MCP / 移动端桥接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468880" y="1280160"/>
            <a:ext cx="2057400" cy="219456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651760" y="14630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4F19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39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2651760" y="21031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Tools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651760" y="24688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买家 23 个 + 商户 16 个工具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663440" y="1280160"/>
            <a:ext cx="2057400" cy="219456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846320" y="14630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4F19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4846320" y="21031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Solana Programs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46320" y="24688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(6 指令) / Session Key (4) / MagicBlock (10)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858000" y="1280160"/>
            <a:ext cx="2057400" cy="219456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040880" y="14630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4F19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7040880" y="21031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Apps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040880" y="246888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888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+ Rust Bridge 共享加密逻辑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solidFill>
            <a:srgbClr val="151829"/>
          </a:solidFill>
          <a:ln/>
        </p:spPr>
      </p:sp>
      <p:sp>
        <p:nvSpPr>
          <p:cNvPr id="21" name="Shape 19"/>
          <p:cNvSpPr/>
          <p:nvPr/>
        </p:nvSpPr>
        <p:spPr>
          <a:xfrm>
            <a:off x="640080" y="3977640"/>
            <a:ext cx="1188720" cy="274320"/>
          </a:xfrm>
          <a:prstGeom prst="rect">
            <a:avLst>
              <a:gd name="adj" fmla="val 16667"/>
            </a:avLst>
          </a:prstGeom>
          <a:solidFill>
            <a:srgbClr val="1C2039"/>
          </a:solidFill>
          <a:ln w="6350">
            <a:solidFill>
              <a:srgbClr val="9945FF">
                <a:alpha val="4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977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4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Axum 0.8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920240" y="3977640"/>
            <a:ext cx="1188720" cy="274320"/>
          </a:xfrm>
          <a:prstGeom prst="rect">
            <a:avLst>
              <a:gd name="adj" fmla="val 16667"/>
            </a:avLst>
          </a:prstGeom>
          <a:solidFill>
            <a:srgbClr val="1C2039"/>
          </a:solidFill>
          <a:ln w="6350">
            <a:solidFill>
              <a:srgbClr val="9945FF">
                <a:alpha val="40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920240" y="3977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4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tokio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200400" y="3977640"/>
            <a:ext cx="1188720" cy="274320"/>
          </a:xfrm>
          <a:prstGeom prst="rect">
            <a:avLst>
              <a:gd name="adj" fmla="val 16667"/>
            </a:avLst>
          </a:prstGeom>
          <a:solidFill>
            <a:srgbClr val="1C2039"/>
          </a:solidFill>
          <a:ln w="6350">
            <a:solidFill>
              <a:srgbClr val="9945FF">
                <a:alpha val="40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0" y="3977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4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sled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480560" y="3977640"/>
            <a:ext cx="1188720" cy="274320"/>
          </a:xfrm>
          <a:prstGeom prst="rect">
            <a:avLst>
              <a:gd name="adj" fmla="val 16667"/>
            </a:avLst>
          </a:prstGeom>
          <a:solidFill>
            <a:srgbClr val="1C2039"/>
          </a:solidFill>
          <a:ln w="6350">
            <a:solidFill>
              <a:srgbClr val="9945FF">
                <a:alpha val="40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80560" y="3977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4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Anchor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760720" y="3977640"/>
            <a:ext cx="1188720" cy="274320"/>
          </a:xfrm>
          <a:prstGeom prst="rect">
            <a:avLst>
              <a:gd name="adj" fmla="val 16667"/>
            </a:avLst>
          </a:prstGeom>
          <a:solidFill>
            <a:srgbClr val="1C2039"/>
          </a:solidFill>
          <a:ln w="6350">
            <a:solidFill>
              <a:srgbClr val="9945FF">
                <a:alpha val="4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60720" y="3977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4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Flutter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040880" y="3977640"/>
            <a:ext cx="1188720" cy="274320"/>
          </a:xfrm>
          <a:prstGeom prst="rect">
            <a:avLst>
              <a:gd name="adj" fmla="val 16667"/>
            </a:avLst>
          </a:prstGeom>
          <a:solidFill>
            <a:srgbClr val="1C2039"/>
          </a:solidFill>
          <a:ln w="6350">
            <a:solidFill>
              <a:srgbClr val="9945FF">
                <a:alpha val="4000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040880" y="3977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4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Rust Bridge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40080" y="4343400"/>
            <a:ext cx="1188720" cy="274320"/>
          </a:xfrm>
          <a:prstGeom prst="rect">
            <a:avLst>
              <a:gd name="adj" fmla="val 16667"/>
            </a:avLst>
          </a:prstGeom>
          <a:solidFill>
            <a:srgbClr val="1C2039"/>
          </a:solidFill>
          <a:ln w="6350">
            <a:solidFill>
              <a:srgbClr val="9945FF">
                <a:alpha val="4000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43434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4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PyO3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1920240" y="4343400"/>
            <a:ext cx="1188720" cy="274320"/>
          </a:xfrm>
          <a:prstGeom prst="rect">
            <a:avLst>
              <a:gd name="adj" fmla="val 16667"/>
            </a:avLst>
          </a:prstGeom>
          <a:solidFill>
            <a:srgbClr val="1C2039"/>
          </a:solidFill>
          <a:ln w="6350">
            <a:solidFill>
              <a:srgbClr val="9945FF">
                <a:alpha val="4000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920240" y="43434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4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200400" y="4343400"/>
            <a:ext cx="1188720" cy="274320"/>
          </a:xfrm>
          <a:prstGeom prst="rect">
            <a:avLst>
              <a:gd name="adj" fmla="val 16667"/>
            </a:avLst>
          </a:prstGeom>
          <a:solidFill>
            <a:srgbClr val="1C2039"/>
          </a:solidFill>
          <a:ln w="6350">
            <a:solidFill>
              <a:srgbClr val="9945FF">
                <a:alpha val="4000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0" y="43434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4A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nginx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34440" y="3200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Demo 演示流程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457200" y="1188720"/>
            <a:ext cx="8229600" cy="105156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457200" y="1188720"/>
            <a:ext cx="73152" cy="1051560"/>
          </a:xfrm>
          <a:prstGeom prst="rect">
            <a:avLst/>
          </a:prstGeom>
          <a:solidFill>
            <a:srgbClr val="14F195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28016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4F19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1554480" y="1280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自动支付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554480" y="1691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金额低于阈值 → MCP 自动批准 → 链上支付 → 获取资源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669280" y="1463040"/>
            <a:ext cx="914400" cy="274320"/>
          </a:xfrm>
          <a:prstGeom prst="rect">
            <a:avLst>
              <a:gd name="adj" fmla="val 16667"/>
            </a:avLst>
          </a:prstGeom>
          <a:solidFill>
            <a:srgbClr val="14F195">
              <a:alpha val="20000"/>
            </a:srgbClr>
          </a:solidFill>
          <a:ln w="6350">
            <a:solidFill>
              <a:srgbClr val="14F19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0" y="1463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4F1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x402</a:t>
            </a:r>
            <a:endParaRPr lang="en-US" sz="700" dirty="0"/>
          </a:p>
        </p:txBody>
      </p:sp>
      <p:sp>
        <p:nvSpPr>
          <p:cNvPr id="11" name="Shape 8"/>
          <p:cNvSpPr/>
          <p:nvPr/>
        </p:nvSpPr>
        <p:spPr>
          <a:xfrm>
            <a:off x="6675120" y="1463040"/>
            <a:ext cx="914400" cy="274320"/>
          </a:xfrm>
          <a:prstGeom prst="rect">
            <a:avLst>
              <a:gd name="adj" fmla="val 16667"/>
            </a:avLst>
          </a:prstGeom>
          <a:solidFill>
            <a:srgbClr val="14F195">
              <a:alpha val="20000"/>
            </a:srgbClr>
          </a:solidFill>
          <a:ln w="6350">
            <a:solidFill>
              <a:srgbClr val="14F19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675120" y="1463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4F1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Auto-Approve</a:t>
            </a:r>
            <a:endParaRPr lang="en-US" sz="700" dirty="0"/>
          </a:p>
        </p:txBody>
      </p:sp>
      <p:sp>
        <p:nvSpPr>
          <p:cNvPr id="13" name="Shape 10"/>
          <p:cNvSpPr/>
          <p:nvPr/>
        </p:nvSpPr>
        <p:spPr>
          <a:xfrm>
            <a:off x="7680960" y="1463040"/>
            <a:ext cx="914400" cy="274320"/>
          </a:xfrm>
          <a:prstGeom prst="rect">
            <a:avLst>
              <a:gd name="adj" fmla="val 16667"/>
            </a:avLst>
          </a:prstGeom>
          <a:solidFill>
            <a:srgbClr val="14F195">
              <a:alpha val="20000"/>
            </a:srgbClr>
          </a:solidFill>
          <a:ln w="6350">
            <a:solidFill>
              <a:srgbClr val="14F19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80960" y="1463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4F1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Solana</a:t>
            </a:r>
            <a:endParaRPr lang="en-US" sz="700" dirty="0"/>
          </a:p>
        </p:txBody>
      </p:sp>
      <p:sp>
        <p:nvSpPr>
          <p:cNvPr id="15" name="Shape 12"/>
          <p:cNvSpPr/>
          <p:nvPr/>
        </p:nvSpPr>
        <p:spPr>
          <a:xfrm>
            <a:off x="457200" y="2423160"/>
            <a:ext cx="8229600" cy="105156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57200" y="2423160"/>
            <a:ext cx="73152" cy="1051560"/>
          </a:xfrm>
          <a:prstGeom prst="rect">
            <a:avLst/>
          </a:prstGeom>
          <a:solidFill>
            <a:srgbClr val="9945FF"/>
          </a:solidFill>
          <a:ln/>
        </p:spPr>
      </p:sp>
      <p:sp>
        <p:nvSpPr>
          <p:cNvPr id="17" name="Text 14"/>
          <p:cNvSpPr/>
          <p:nvPr/>
        </p:nvSpPr>
        <p:spPr>
          <a:xfrm>
            <a:off x="731520" y="251460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9945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3000" dirty="0"/>
          </a:p>
        </p:txBody>
      </p:sp>
      <p:sp>
        <p:nvSpPr>
          <p:cNvPr id="18" name="Text 15"/>
          <p:cNvSpPr/>
          <p:nvPr/>
        </p:nvSpPr>
        <p:spPr>
          <a:xfrm>
            <a:off x="1554480" y="2514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手机授权支付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554480" y="2926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超过阈值 → DIDComm 推送 → 手机滑动确认 → Session Key 链上转账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669280" y="2697480"/>
            <a:ext cx="914400" cy="274320"/>
          </a:xfrm>
          <a:prstGeom prst="rect">
            <a:avLst>
              <a:gd name="adj" fmla="val 16667"/>
            </a:avLst>
          </a:prstGeom>
          <a:solidFill>
            <a:srgbClr val="9945FF">
              <a:alpha val="20000"/>
            </a:srgbClr>
          </a:solidFill>
          <a:ln w="6350">
            <a:solidFill>
              <a:srgbClr val="9945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669280" y="2697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4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DIDComm</a:t>
            </a:r>
            <a:endParaRPr lang="en-US" sz="700" dirty="0"/>
          </a:p>
        </p:txBody>
      </p:sp>
      <p:sp>
        <p:nvSpPr>
          <p:cNvPr id="22" name="Shape 19"/>
          <p:cNvSpPr/>
          <p:nvPr/>
        </p:nvSpPr>
        <p:spPr>
          <a:xfrm>
            <a:off x="6675120" y="2697480"/>
            <a:ext cx="914400" cy="274320"/>
          </a:xfrm>
          <a:prstGeom prst="rect">
            <a:avLst>
              <a:gd name="adj" fmla="val 16667"/>
            </a:avLst>
          </a:prstGeom>
          <a:solidFill>
            <a:srgbClr val="9945FF">
              <a:alpha val="20000"/>
            </a:srgbClr>
          </a:solidFill>
          <a:ln w="6350">
            <a:solidFill>
              <a:srgbClr val="9945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75120" y="2697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4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 Key</a:t>
            </a:r>
            <a:endParaRPr lang="en-US" sz="700" dirty="0"/>
          </a:p>
        </p:txBody>
      </p:sp>
      <p:sp>
        <p:nvSpPr>
          <p:cNvPr id="24" name="Shape 21"/>
          <p:cNvSpPr/>
          <p:nvPr/>
        </p:nvSpPr>
        <p:spPr>
          <a:xfrm>
            <a:off x="7680960" y="2697480"/>
            <a:ext cx="914400" cy="274320"/>
          </a:xfrm>
          <a:prstGeom prst="rect">
            <a:avLst>
              <a:gd name="adj" fmla="val 16667"/>
            </a:avLst>
          </a:prstGeom>
          <a:solidFill>
            <a:srgbClr val="9945FF">
              <a:alpha val="20000"/>
            </a:srgbClr>
          </a:solidFill>
          <a:ln w="6350">
            <a:solidFill>
              <a:srgbClr val="9945F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680960" y="2697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4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Phone Auth</a:t>
            </a:r>
            <a:endParaRPr lang="en-US" sz="700" dirty="0"/>
          </a:p>
        </p:txBody>
      </p:sp>
      <p:sp>
        <p:nvSpPr>
          <p:cNvPr id="26" name="Shape 23"/>
          <p:cNvSpPr/>
          <p:nvPr/>
        </p:nvSpPr>
        <p:spPr>
          <a:xfrm>
            <a:off x="457200" y="3657600"/>
            <a:ext cx="8229600" cy="105156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57200" y="3657600"/>
            <a:ext cx="73152" cy="10515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5"/>
          <p:cNvSpPr/>
          <p:nvPr/>
        </p:nvSpPr>
        <p:spPr>
          <a:xfrm>
            <a:off x="731520" y="374904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3000" dirty="0"/>
          </a:p>
        </p:txBody>
      </p:sp>
      <p:sp>
        <p:nvSpPr>
          <p:cNvPr id="29" name="Text 26"/>
          <p:cNvSpPr/>
          <p:nvPr/>
        </p:nvSpPr>
        <p:spPr>
          <a:xfrm>
            <a:off x="1554480" y="3749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MagicBlock 高频支付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1554480" y="4160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链下 Voucher 签名 → 亚秒级完成 → Sum-Merkle 批量结算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5669280" y="3931920"/>
            <a:ext cx="914400" cy="274320"/>
          </a:xfrm>
          <a:prstGeom prst="rect">
            <a:avLst>
              <a:gd name="adj" fmla="val 16667"/>
            </a:avLst>
          </a:prstGeom>
          <a:solidFill>
            <a:srgbClr val="F59E0B">
              <a:alpha val="20000"/>
            </a:srgbClr>
          </a:solidFill>
          <a:ln w="6350">
            <a:solidFill>
              <a:srgbClr val="F59E0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669280" y="39319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Voucher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6675120" y="3931920"/>
            <a:ext cx="914400" cy="274320"/>
          </a:xfrm>
          <a:prstGeom prst="rect">
            <a:avLst>
              <a:gd name="adj" fmla="val 16667"/>
            </a:avLst>
          </a:prstGeom>
          <a:solidFill>
            <a:srgbClr val="F59E0B">
              <a:alpha val="20000"/>
            </a:srgbClr>
          </a:solidFill>
          <a:ln w="6350">
            <a:solidFill>
              <a:srgbClr val="F59E0B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675120" y="39319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&lt;50ms</a:t>
            </a:r>
            <a:endParaRPr lang="en-US" sz="700" dirty="0"/>
          </a:p>
        </p:txBody>
      </p:sp>
      <p:sp>
        <p:nvSpPr>
          <p:cNvPr id="35" name="Shape 32"/>
          <p:cNvSpPr/>
          <p:nvPr/>
        </p:nvSpPr>
        <p:spPr>
          <a:xfrm>
            <a:off x="7680960" y="3931920"/>
            <a:ext cx="914400" cy="274320"/>
          </a:xfrm>
          <a:prstGeom prst="rect">
            <a:avLst>
              <a:gd name="adj" fmla="val 16667"/>
            </a:avLst>
          </a:prstGeom>
          <a:solidFill>
            <a:srgbClr val="F59E0B">
              <a:alpha val="20000"/>
            </a:srgbClr>
          </a:solidFill>
          <a:ln w="6350">
            <a:solidFill>
              <a:srgbClr val="F59E0B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680960" y="39319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Batch Settle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9945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 USERS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5486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适用场景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280160"/>
            <a:ext cx="2057400" cy="329184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280160"/>
            <a:ext cx="2057400" cy="45720"/>
          </a:xfrm>
          <a:prstGeom prst="rect">
            <a:avLst/>
          </a:prstGeom>
          <a:solidFill>
            <a:srgbClr val="14F19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554480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22860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F1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开发者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2743200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构建可自主支付的 Agent，访问付费 API、数据源、算力，保留人类监督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468880" y="1280160"/>
            <a:ext cx="2057400" cy="329184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2468880" y="1280160"/>
            <a:ext cx="2057400" cy="45720"/>
          </a:xfrm>
          <a:prstGeom prst="rect">
            <a:avLst/>
          </a:prstGeom>
          <a:solidFill>
            <a:srgbClr val="9945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0" y="155448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651760" y="22860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4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商户 / 服务商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2651760" y="2743200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接受 x402 Agent 支付 + 消费者扫码支付，注册链上身份获取信任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663440" y="1280160"/>
            <a:ext cx="2057400" cy="329184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663440" y="1280160"/>
            <a:ext cx="2057400" cy="4572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1554480"/>
            <a:ext cx="548640" cy="5486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846320" y="22860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消费者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4846320" y="2743200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扫码微支付（咖啡、自动售货机），授权 Agent 支付，跨链 USDC 充值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858000" y="1280160"/>
            <a:ext cx="2057400" cy="3291840"/>
          </a:xfrm>
          <a:prstGeom prst="rect">
            <a:avLst/>
          </a:prstGeom>
          <a:solidFill>
            <a:srgbClr val="15182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858000" y="1280160"/>
            <a:ext cx="2057400" cy="45720"/>
          </a:xfrm>
          <a:prstGeom prst="rect">
            <a:avLst/>
          </a:prstGeom>
          <a:solidFill>
            <a:srgbClr val="06B6D4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1554480"/>
            <a:ext cx="548640" cy="54864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040880" y="22860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企业场景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7040880" y="2743200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4C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Relayer 代付模式，零 Gas 门槛用户引导，批量微支付结算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D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914400"/>
            <a:ext cx="3657600" cy="3657600"/>
          </a:xfrm>
          <a:prstGeom prst="ellipse">
            <a:avLst/>
          </a:prstGeom>
          <a:solidFill>
            <a:srgbClr val="9945FF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2743200"/>
            <a:ext cx="3657600" cy="3657600"/>
          </a:xfrm>
          <a:prstGeom prst="ellipse">
            <a:avLst/>
          </a:prstGeom>
          <a:solidFill>
            <a:srgbClr val="14F195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14F1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82296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Ignite Pay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73152" cy="274320"/>
          </a:xfrm>
          <a:prstGeom prst="rect">
            <a:avLst/>
          </a:prstGeom>
          <a:solidFill>
            <a:srgbClr val="14F195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73736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自主支付 + 人类实时授权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148840"/>
            <a:ext cx="73152" cy="274320"/>
          </a:xfrm>
          <a:prstGeom prst="rect">
            <a:avLst/>
          </a:prstGeom>
          <a:solidFill>
            <a:srgbClr val="9945FF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21488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DIDComm v2 端到端加密 — 中继零知识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560320"/>
            <a:ext cx="73152" cy="2743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25603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条支付路径 — MagicBlock 亚秒免 Gas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2971800"/>
            <a:ext cx="73152" cy="27432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29718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层风控 — 黑名单到白名单全覆盖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1520" y="3383280"/>
            <a:ext cx="73152" cy="27432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33832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CCTP 跨链 USDC — 一键 EVM 到 Solana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286000" y="3931920"/>
            <a:ext cx="4572000" cy="640080"/>
          </a:xfrm>
          <a:prstGeom prst="rect">
            <a:avLst/>
          </a:prstGeom>
          <a:solidFill>
            <a:srgbClr val="14F195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86000" y="39319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B0D1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为 Agent 经济构建支付基础设施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Ignite Pay — Agent Payment Infrastructure</dc:title>
  <dc:subject>PptxGenJS Presentation</dc:subject>
  <dc:creator>Ignite Pay</dc:creator>
  <cp:lastModifiedBy>Ignite Pay</cp:lastModifiedBy>
  <cp:revision>1</cp:revision>
  <dcterms:created xsi:type="dcterms:W3CDTF">2026-05-07T10:00:48Z</dcterms:created>
  <dcterms:modified xsi:type="dcterms:W3CDTF">2026-05-07T10:00:48Z</dcterms:modified>
</cp:coreProperties>
</file>