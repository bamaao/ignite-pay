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9945F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14F195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DECENTRALIZED PAYMENT INFRASTRUCTURE FOR THE AGENT ECONOMY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Ignite Pay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</a:t>
            </a:r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paywalls and trigger payments automatically
</a:t>
            </a:r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D4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</a:t>
            </a:r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with a single swipe on their phone, </a:t>
            </a:r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</a:t>
            </a:r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settles on-chain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1554480" cy="320040"/>
          </a:xfrm>
          <a:prstGeom prst="rect">
            <a:avLst>
              <a:gd name="adj" fmla="val 14286"/>
            </a:avLst>
          </a:prstGeom>
          <a:solidFill>
            <a:srgbClr val="151829"/>
          </a:solidFill>
          <a:ln w="12700">
            <a:solidFill>
              <a:srgbClr val="9945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206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Protocol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4206240"/>
            <a:ext cx="1554480" cy="320040"/>
          </a:xfrm>
          <a:prstGeom prst="rect">
            <a:avLst>
              <a:gd name="adj" fmla="val 14286"/>
            </a:avLst>
          </a:prstGeom>
          <a:solidFill>
            <a:srgbClr val="151829"/>
          </a:solidFill>
          <a:ln w="12700">
            <a:solidFill>
              <a:srgbClr val="9945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4206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06240" y="4206240"/>
            <a:ext cx="1554480" cy="320040"/>
          </a:xfrm>
          <a:prstGeom prst="rect">
            <a:avLst>
              <a:gd name="adj" fmla="val 14286"/>
            </a:avLst>
          </a:prstGeom>
          <a:solidFill>
            <a:srgbClr val="151829"/>
          </a:solidFill>
          <a:ln w="12700">
            <a:solidFill>
              <a:srgbClr val="9945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4206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DIDComm v2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4206240"/>
            <a:ext cx="1554480" cy="320040"/>
          </a:xfrm>
          <a:prstGeom prst="rect">
            <a:avLst>
              <a:gd name="adj" fmla="val 14286"/>
            </a:avLst>
          </a:prstGeom>
          <a:solidFill>
            <a:srgbClr val="151829"/>
          </a:solidFill>
          <a:ln w="12700">
            <a:solidFill>
              <a:srgbClr val="9945F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4206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MagicBlock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Agents need to pay, but who authorizes?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874520" cy="274320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06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Autonomy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301752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need paid APIs, data feeds, and compute resources but cannot judge whether a payment is safe to make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88920" y="1828800"/>
            <a:ext cx="1874520" cy="274320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0574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71800" y="2606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Risk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971800" y="301752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payments means exposing private keys to Agents. A compromised Agent drains funds with no recourse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846320" y="1828800"/>
            <a:ext cx="1874520" cy="274320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0574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29200" y="2606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Gap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029200" y="301752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Agent-to-user communication must be end-to-end encrypted. Relay servers should never read payment instructions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903720" y="1828800"/>
            <a:ext cx="1874520" cy="274320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0574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86600" y="2606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7086600" y="301752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micro-payments (API calls, content access) require sub-second latency and zero gas cost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hits paywall -&gt; MCP orchestrates -&gt; Phone authorizes -&gt; On-chain payment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60120" y="1737360"/>
            <a:ext cx="640080" cy="6400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0" y="1783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556A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Request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HTTP 402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97480" y="1737360"/>
            <a:ext cx="640080" cy="640080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0" y="1783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556A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24028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Processing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40280" y="2834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x402 challenge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decision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34840" y="1737360"/>
            <a:ext cx="640080" cy="640080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20640" y="1783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556A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97764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Auth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77640" y="2834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DIDComm encrypted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confirm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72200" y="173736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0" y="1783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556A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71500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Pay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15000" y="2834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Key /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MagicBlock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09560" y="1737360"/>
            <a:ext cx="640080" cy="640080"/>
          </a:xfrm>
          <a:prstGeom prst="ellipse">
            <a:avLst/>
          </a:prstGeom>
          <a:solidFill>
            <a:srgbClr val="0D9B6A"/>
          </a:solidFill>
          <a:ln/>
        </p:spPr>
      </p:sp>
      <p:sp>
        <p:nvSpPr>
          <p:cNvPr id="25" name="Text 23"/>
          <p:cNvSpPr/>
          <p:nvPr/>
        </p:nvSpPr>
        <p:spPr>
          <a:xfrm>
            <a:off x="79095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5236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Resource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52360" y="2834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with proof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Encryption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DIDComm v2 JWE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5176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Multi-Path Engine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5176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payment paths auto-selected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6344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Risk Control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6344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 to whitelist coverage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7512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Sub-second Settlement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7512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MagicBlock &lt;50ms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Four-Layer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594360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13716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 |  Buyer App  |  Merchant App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59436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03120"/>
            <a:ext cx="73152" cy="59436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21031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MCP (23 Tools)  |  Merchant MCP (16 Tools)  |  Hub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59436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834640"/>
            <a:ext cx="73152" cy="594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34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28346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DIDComm v2 Mediator  |  JWE Authcrypt  |  Ed25519 + X25519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59436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566160"/>
            <a:ext cx="73152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66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35661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Settlement  |  MagicBlock ER  |  ZK Compression DID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3840480" cy="457200"/>
          </a:xfrm>
          <a:prstGeom prst="rect">
            <a:avLst/>
          </a:prstGeom>
          <a:solidFill>
            <a:srgbClr val="1C203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389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MCP-First: JSON-RPC 2.0 protocol, compatible with Claude / Cursor clients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4389120"/>
            <a:ext cx="3840480" cy="457200"/>
          </a:xfrm>
          <a:prstGeom prst="rect">
            <a:avLst/>
          </a:prstGeom>
          <a:solidFill>
            <a:srgbClr val="1C2039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4389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Rust Bridge mobile apps with shared crypto logic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320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Autonomous Payments + Human Authorization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Auto-Approve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Whitelisted merchants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below global threshold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notification needed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executes on-chain payment directly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474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latency | Zero user interaction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Authorization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29200" y="182880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merchant / over-limit payment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DIDComm encrypted push to phone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swipe to approve or decline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Session Key for payment execution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0" y="3474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E2E encrypted | Ephemeral key isolation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320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Multi-Path Payment Engine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274320" y="1097280"/>
            <a:ext cx="1645920" cy="329184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274320" y="1097280"/>
            <a:ext cx="1645920" cy="45720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6" name="Text 3"/>
          <p:cNvSpPr/>
          <p:nvPr/>
        </p:nvSpPr>
        <p:spPr>
          <a:xfrm>
            <a:off x="41148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MagicBlock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&lt;50ms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11480" y="2103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1480" y="2514600"/>
            <a:ext cx="1371600" cy="274320"/>
          </a:xfrm>
          <a:prstGeom prst="rect">
            <a:avLst/>
          </a:prstGeom>
          <a:solidFill>
            <a:srgbClr val="1C2039"/>
          </a:solidFill>
          <a:ln/>
        </p:spPr>
      </p:sp>
      <p:sp>
        <p:nvSpPr>
          <p:cNvPr id="10" name="Text 7"/>
          <p:cNvSpPr/>
          <p:nvPr/>
        </p:nvSpPr>
        <p:spPr>
          <a:xfrm>
            <a:off x="41148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Gas: Free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" y="3017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Voucher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Merkle settlement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57400" y="1097280"/>
            <a:ext cx="1645920" cy="329184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057400" y="1097280"/>
            <a:ext cx="1645920" cy="4572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4" name="Text 11"/>
          <p:cNvSpPr/>
          <p:nvPr/>
        </p:nvSpPr>
        <p:spPr>
          <a:xfrm>
            <a:off x="219456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Key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19456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~400ms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2194560" y="2103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194560" y="2514600"/>
            <a:ext cx="1371600" cy="274320"/>
          </a:xfrm>
          <a:prstGeom prst="rect">
            <a:avLst/>
          </a:prstGeom>
          <a:solidFill>
            <a:srgbClr val="1C2039"/>
          </a:solidFill>
          <a:ln/>
        </p:spPr>
      </p:sp>
      <p:sp>
        <p:nvSpPr>
          <p:cNvPr id="18" name="Text 15"/>
          <p:cNvSpPr/>
          <p:nvPr/>
        </p:nvSpPr>
        <p:spPr>
          <a:xfrm>
            <a:off x="219456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Gas: Normal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194560" y="3017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SOL/SPL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key auth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840480" y="1097280"/>
            <a:ext cx="1645920" cy="329184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840480" y="1097280"/>
            <a:ext cx="164592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2" name="Text 19"/>
          <p:cNvSpPr/>
          <p:nvPr/>
        </p:nvSpPr>
        <p:spPr>
          <a:xfrm>
            <a:off x="397764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Wallet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97764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~400ms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3977640" y="2103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977640" y="2514600"/>
            <a:ext cx="1371600" cy="274320"/>
          </a:xfrm>
          <a:prstGeom prst="rect">
            <a:avLst/>
          </a:prstGeom>
          <a:solidFill>
            <a:srgbClr val="1C2039"/>
          </a:solidFill>
          <a:ln/>
        </p:spPr>
      </p:sp>
      <p:sp>
        <p:nvSpPr>
          <p:cNvPr id="26" name="Text 23"/>
          <p:cNvSpPr/>
          <p:nvPr/>
        </p:nvSpPr>
        <p:spPr>
          <a:xfrm>
            <a:off x="397764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Gas: Normal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977640" y="3017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/ Solflare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 signing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623560" y="1097280"/>
            <a:ext cx="1645920" cy="329184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623560" y="1097280"/>
            <a:ext cx="16459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7"/>
          <p:cNvSpPr/>
          <p:nvPr/>
        </p:nvSpPr>
        <p:spPr>
          <a:xfrm>
            <a:off x="576072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Relayer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76072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~400ms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5760720" y="2103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760720" y="2514600"/>
            <a:ext cx="1371600" cy="274320"/>
          </a:xfrm>
          <a:prstGeom prst="rect">
            <a:avLst/>
          </a:prstGeom>
          <a:solidFill>
            <a:srgbClr val="1C2039"/>
          </a:solidFill>
          <a:ln/>
        </p:spPr>
      </p:sp>
      <p:sp>
        <p:nvSpPr>
          <p:cNvPr id="34" name="Text 31"/>
          <p:cNvSpPr/>
          <p:nvPr/>
        </p:nvSpPr>
        <p:spPr>
          <a:xfrm>
            <a:off x="576072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Gas: Sponsored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760720" y="3017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gas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Zero-barrier onboarding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406640" y="1097280"/>
            <a:ext cx="1645920" cy="329184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7406640" y="1097280"/>
            <a:ext cx="16459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8" name="Text 35"/>
          <p:cNvSpPr/>
          <p:nvPr/>
        </p:nvSpPr>
        <p:spPr>
          <a:xfrm>
            <a:off x="754380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CCTP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754380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10-30min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7543800" y="2103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7543800" y="2514600"/>
            <a:ext cx="1371600" cy="274320"/>
          </a:xfrm>
          <a:prstGeom prst="rect">
            <a:avLst/>
          </a:prstGeom>
          <a:solidFill>
            <a:srgbClr val="1C2039"/>
          </a:solidFill>
          <a:ln/>
        </p:spPr>
      </p:sp>
      <p:sp>
        <p:nvSpPr>
          <p:cNvPr id="42" name="Text 39"/>
          <p:cNvSpPr/>
          <p:nvPr/>
        </p:nvSpPr>
        <p:spPr>
          <a:xfrm>
            <a:off x="754380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Gas: Source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543800" y="3017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USDC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to Solana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320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DIDComm v2 End-to-End Encryption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685800" y="1280160"/>
            <a:ext cx="731520" cy="731520"/>
          </a:xfrm>
          <a:prstGeom prst="ellipse">
            <a:avLst/>
          </a:prstGeom>
          <a:solidFill>
            <a:srgbClr val="9945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8580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auth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606040" y="1280160"/>
            <a:ext cx="731520" cy="73152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60604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37744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Authcrypt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26280" y="1280160"/>
            <a:ext cx="731520" cy="731520"/>
          </a:xfrm>
          <a:prstGeom prst="ellipse">
            <a:avLst/>
          </a:prstGeom>
          <a:solidFill>
            <a:srgbClr val="9945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2628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Mediator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29768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forwarding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(cannot decrypt)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897880" y="1280160"/>
            <a:ext cx="731520" cy="73152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9788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6928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543800" y="1280160"/>
            <a:ext cx="731520" cy="731520"/>
          </a:xfrm>
          <a:prstGeom prst="ellipse">
            <a:avLst/>
          </a:prstGeom>
          <a:solidFill>
            <a:srgbClr val="9945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54380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1520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and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5087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6A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34290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6A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3492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6A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7208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6A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560320" y="30175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JWE Authcrypt (X25519 key agreement)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3493008"/>
            <a:ext cx="8229600" cy="41148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34930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560320" y="349300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signatures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968496"/>
            <a:ext cx="8229600" cy="41148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396849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560320" y="396849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did:ignite:z6Mk... (Ed25519 multibase encoding)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7200" y="4443984"/>
            <a:ext cx="8229600" cy="41148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33" name="Text 30"/>
          <p:cNvSpPr/>
          <p:nvPr/>
        </p:nvSpPr>
        <p:spPr>
          <a:xfrm>
            <a:off x="731520" y="44439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Security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560320" y="444398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relay — only ciphertext visible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320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Six-Level Risk Control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5" name="Shape 2"/>
          <p:cNvSpPr/>
          <p:nvPr/>
        </p:nvSpPr>
        <p:spPr>
          <a:xfrm>
            <a:off x="594360" y="1161288"/>
            <a:ext cx="50292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11612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280160" y="1051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Blacklist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91840" y="10515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blacklisted → instant reject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675120" y="1179576"/>
            <a:ext cx="1371600" cy="329184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0" y="11795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" y="1709928"/>
            <a:ext cx="8229600" cy="59436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12" name="Shape 9"/>
          <p:cNvSpPr/>
          <p:nvPr/>
        </p:nvSpPr>
        <p:spPr>
          <a:xfrm>
            <a:off x="594360" y="1819656"/>
            <a:ext cx="50292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181965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280160" y="170992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IPFS CID Blacklist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291840" y="170992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hash blacklisted → reject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75120" y="1837944"/>
            <a:ext cx="1371600" cy="329184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0" y="183794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57200" y="2368296"/>
            <a:ext cx="8229600" cy="59436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19" name="Shape 16"/>
          <p:cNvSpPr/>
          <p:nvPr/>
        </p:nvSpPr>
        <p:spPr>
          <a:xfrm>
            <a:off x="594360" y="2478024"/>
            <a:ext cx="50292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" y="247802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280160" y="236829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Per-Tx Limit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291840" y="236829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exceeds threshold → need authorization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675120" y="2496312"/>
            <a:ext cx="1371600" cy="329184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75120" y="24963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026664"/>
            <a:ext cx="8229600" cy="59436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26" name="Shape 23"/>
          <p:cNvSpPr/>
          <p:nvPr/>
        </p:nvSpPr>
        <p:spPr>
          <a:xfrm>
            <a:off x="594360" y="3136392"/>
            <a:ext cx="502920" cy="365760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31363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280160" y="302666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Whitelist Auto-Approve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291840" y="302666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merchant + within limit → auto-approve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675120" y="3154680"/>
            <a:ext cx="1371600" cy="329184"/>
          </a:xfrm>
          <a:prstGeom prst="rect">
            <a:avLst/>
          </a:prstGeom>
          <a:solidFill>
            <a:srgbClr val="14F195">
              <a:alpha val="20000"/>
            </a:srgbClr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75120" y="31546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APPROVE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57200" y="3685032"/>
            <a:ext cx="8229600" cy="59436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33" name="Shape 30"/>
          <p:cNvSpPr/>
          <p:nvPr/>
        </p:nvSpPr>
        <p:spPr>
          <a:xfrm>
            <a:off x="594360" y="3794760"/>
            <a:ext cx="502920" cy="365760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34" name="Text 31"/>
          <p:cNvSpPr/>
          <p:nvPr/>
        </p:nvSpPr>
        <p:spPr>
          <a:xfrm>
            <a:off x="594360" y="3794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L5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280160" y="36850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IPFS CID Whitelist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3291840" y="36850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content source → auto-approve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675120" y="3813048"/>
            <a:ext cx="1371600" cy="329184"/>
          </a:xfrm>
          <a:prstGeom prst="rect">
            <a:avLst/>
          </a:prstGeom>
          <a:solidFill>
            <a:srgbClr val="14F195">
              <a:alpha val="20000"/>
            </a:srgbClr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675120" y="38130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APPROVE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40" name="Shape 37"/>
          <p:cNvSpPr/>
          <p:nvPr/>
        </p:nvSpPr>
        <p:spPr>
          <a:xfrm>
            <a:off x="594360" y="4453128"/>
            <a:ext cx="502920" cy="3657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1" name="Text 38"/>
          <p:cNvSpPr/>
          <p:nvPr/>
        </p:nvSpPr>
        <p:spPr>
          <a:xfrm>
            <a:off x="594360" y="44531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L6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1280160" y="43434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Push to Phone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3291840" y="43434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any list → push to phone for authorization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675120" y="4471416"/>
            <a:ext cx="1371600" cy="329184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675120" y="44714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320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MagicBlock High-Frequency Payment Channels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4114800" cy="73152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57200" y="1188720"/>
            <a:ext cx="73152" cy="73152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Solana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377440" y="1188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creation / fund locking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verification / batch settlement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2103120"/>
            <a:ext cx="4114800" cy="73152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103120"/>
            <a:ext cx="73152" cy="731520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103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MagicBlock 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37744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state transition (&lt;50ms)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Gas-free / real-time Voucher recording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3017520"/>
            <a:ext cx="4114800" cy="73152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3017520"/>
            <a:ext cx="73152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3017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Off-chain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377440" y="3017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window / challenge mechanism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Sum-Merkle Proof fraud proofs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29200" y="1188720"/>
            <a:ext cx="3657600" cy="73152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17" name="Text 14"/>
          <p:cNvSpPr/>
          <p:nvPr/>
        </p:nvSpPr>
        <p:spPr>
          <a:xfrm>
            <a:off x="530352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&lt;50ms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94944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Latency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029200" y="2103120"/>
            <a:ext cx="3657600" cy="73152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20" name="Text 17"/>
          <p:cNvSpPr/>
          <p:nvPr/>
        </p:nvSpPr>
        <p:spPr>
          <a:xfrm>
            <a:off x="5303520" y="2103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 Gas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6949440" y="2103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Cost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029200" y="3017520"/>
            <a:ext cx="3657600" cy="73152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23" name="Text 20"/>
          <p:cNvSpPr/>
          <p:nvPr/>
        </p:nvSpPr>
        <p:spPr>
          <a:xfrm>
            <a:off x="5303520" y="3017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Batch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949440" y="3017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Settlement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1C2039"/>
          </a:solidFill>
          <a:ln/>
        </p:spPr>
      </p:sp>
      <p:sp>
        <p:nvSpPr>
          <p:cNvPr id="26" name="Text 23"/>
          <p:cNvSpPr/>
          <p:nvPr/>
        </p:nvSpPr>
        <p:spPr>
          <a:xfrm>
            <a:off x="731520" y="40233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Voucher = SHA256(channel_id || seq || amount) + Ed25519 Signature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320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CCTP Cross-Chain USDC Deposit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685800" y="1188720"/>
            <a:ext cx="731520" cy="731520"/>
          </a:xfrm>
          <a:prstGeom prst="ellipse">
            <a:avLst/>
          </a:prstGeom>
          <a:solidFill>
            <a:srgbClr val="15182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ETH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423160" y="1188720"/>
            <a:ext cx="731520" cy="731520"/>
          </a:xfrm>
          <a:prstGeom prst="ellipse">
            <a:avLst/>
          </a:prstGeom>
          <a:solidFill>
            <a:srgbClr val="15182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2316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194560" y="2011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160520" y="1188720"/>
            <a:ext cx="731520" cy="731520"/>
          </a:xfrm>
          <a:prstGeom prst="ellipse">
            <a:avLst/>
          </a:prstGeom>
          <a:solidFill>
            <a:srgbClr val="15182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6052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ARB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931920" y="2011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Arbitrum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897880" y="1188720"/>
            <a:ext cx="731520" cy="731520"/>
          </a:xfrm>
          <a:prstGeom prst="ellipse">
            <a:avLst/>
          </a:prstGeom>
          <a:solidFill>
            <a:srgbClr val="15182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9788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69280" y="2011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74320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Circle CCTP V2  →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749040" y="3017520"/>
            <a:ext cx="1645920" cy="914400"/>
          </a:xfrm>
          <a:prstGeom prst="ellipse">
            <a:avLst/>
          </a:prstGeom>
          <a:solidFill>
            <a:srgbClr val="151829"/>
          </a:solidFill>
          <a:ln w="25400">
            <a:solidFill>
              <a:srgbClr val="14F19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49040" y="30175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Solana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USDC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37160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Deposit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01752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with MetaMask on source chain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371600" y="4407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Mint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017520" y="4407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mints equivalent USDC on Solana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371600" y="47000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10-30 minutes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017520" y="4700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confirmation time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Highlights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057400" cy="219456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63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Crates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libs / on-chain programs / SDKs / MCP / mobile bridges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280160"/>
            <a:ext cx="2057400" cy="219456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463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51760" y="2103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24688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buyer tools + 16 merchant tools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2057400" cy="219456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463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Programs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4688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(6 instr.) / Session Key (4) / MagicBlock (10)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0" y="1280160"/>
            <a:ext cx="2057400" cy="219456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0" y="1463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040880" y="2103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24688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Rust Bridge shared crypto logic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977640"/>
            <a:ext cx="1188720" cy="274320"/>
          </a:xfrm>
          <a:prstGeom prst="rect">
            <a:avLst>
              <a:gd name="adj" fmla="val 16667"/>
            </a:avLst>
          </a:prstGeom>
          <a:solidFill>
            <a:srgbClr val="1C2039"/>
          </a:solidFill>
          <a:ln w="6350">
            <a:solidFill>
              <a:srgbClr val="9945FF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Axum 0.8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920240" y="3977640"/>
            <a:ext cx="1188720" cy="274320"/>
          </a:xfrm>
          <a:prstGeom prst="rect">
            <a:avLst>
              <a:gd name="adj" fmla="val 16667"/>
            </a:avLst>
          </a:prstGeom>
          <a:solidFill>
            <a:srgbClr val="1C2039"/>
          </a:solidFill>
          <a:ln w="6350">
            <a:solidFill>
              <a:srgbClr val="9945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0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tokio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0" y="3977640"/>
            <a:ext cx="1188720" cy="274320"/>
          </a:xfrm>
          <a:prstGeom prst="rect">
            <a:avLst>
              <a:gd name="adj" fmla="val 16667"/>
            </a:avLst>
          </a:prstGeom>
          <a:solidFill>
            <a:srgbClr val="1C2039"/>
          </a:solidFill>
          <a:ln w="6350">
            <a:solidFill>
              <a:srgbClr val="9945FF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480560" y="3977640"/>
            <a:ext cx="1188720" cy="274320"/>
          </a:xfrm>
          <a:prstGeom prst="rect">
            <a:avLst>
              <a:gd name="adj" fmla="val 16667"/>
            </a:avLst>
          </a:prstGeom>
          <a:solidFill>
            <a:srgbClr val="1C2039"/>
          </a:solidFill>
          <a:ln w="6350">
            <a:solidFill>
              <a:srgbClr val="9945FF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Anchor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760720" y="3977640"/>
            <a:ext cx="1188720" cy="274320"/>
          </a:xfrm>
          <a:prstGeom prst="rect">
            <a:avLst>
              <a:gd name="adj" fmla="val 16667"/>
            </a:avLst>
          </a:prstGeom>
          <a:solidFill>
            <a:srgbClr val="1C2039"/>
          </a:solidFill>
          <a:ln w="6350">
            <a:solidFill>
              <a:srgbClr val="9945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040880" y="3977640"/>
            <a:ext cx="1188720" cy="274320"/>
          </a:xfrm>
          <a:prstGeom prst="rect">
            <a:avLst>
              <a:gd name="adj" fmla="val 16667"/>
            </a:avLst>
          </a:prstGeom>
          <a:solidFill>
            <a:srgbClr val="1C2039"/>
          </a:solidFill>
          <a:ln w="6350">
            <a:solidFill>
              <a:srgbClr val="9945FF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Rust Bridge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0080" y="4343400"/>
            <a:ext cx="1188720" cy="274320"/>
          </a:xfrm>
          <a:prstGeom prst="rect">
            <a:avLst>
              <a:gd name="adj" fmla="val 16667"/>
            </a:avLst>
          </a:prstGeom>
          <a:solidFill>
            <a:srgbClr val="1C2039"/>
          </a:solidFill>
          <a:ln w="6350">
            <a:solidFill>
              <a:srgbClr val="9945FF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343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PyO3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920240" y="4343400"/>
            <a:ext cx="1188720" cy="274320"/>
          </a:xfrm>
          <a:prstGeom prst="rect">
            <a:avLst>
              <a:gd name="adj" fmla="val 16667"/>
            </a:avLst>
          </a:prstGeom>
          <a:solidFill>
            <a:srgbClr val="1C2039"/>
          </a:solidFill>
          <a:ln w="6350">
            <a:solidFill>
              <a:srgbClr val="9945FF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20240" y="4343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00400" y="4343400"/>
            <a:ext cx="1188720" cy="274320"/>
          </a:xfrm>
          <a:prstGeom prst="rect">
            <a:avLst>
              <a:gd name="adj" fmla="val 16667"/>
            </a:avLst>
          </a:prstGeom>
          <a:solidFill>
            <a:srgbClr val="1C2039"/>
          </a:solidFill>
          <a:ln w="6350">
            <a:solidFill>
              <a:srgbClr val="9945FF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4343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320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 Flow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105156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57200" y="1188720"/>
            <a:ext cx="73152" cy="1051560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8016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5544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Auto-Payment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below threshold → MCP auto-approves → on-chain payment → resource delivered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69280" y="1463040"/>
            <a:ext cx="914400" cy="274320"/>
          </a:xfrm>
          <a:prstGeom prst="rect">
            <a:avLst>
              <a:gd name="adj" fmla="val 16667"/>
            </a:avLst>
          </a:prstGeom>
          <a:solidFill>
            <a:srgbClr val="14F195">
              <a:alpha val="20000"/>
            </a:srgbClr>
          </a:solidFill>
          <a:ln w="6350">
            <a:solidFill>
              <a:srgbClr val="14F19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x402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6675120" y="1463040"/>
            <a:ext cx="914400" cy="274320"/>
          </a:xfrm>
          <a:prstGeom prst="rect">
            <a:avLst>
              <a:gd name="adj" fmla="val 16667"/>
            </a:avLst>
          </a:prstGeom>
          <a:solidFill>
            <a:srgbClr val="14F195">
              <a:alpha val="20000"/>
            </a:srgbClr>
          </a:solidFill>
          <a:ln w="6350">
            <a:solidFill>
              <a:srgbClr val="14F19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Auto-Approve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7680960" y="1463040"/>
            <a:ext cx="914400" cy="274320"/>
          </a:xfrm>
          <a:prstGeom prst="rect">
            <a:avLst>
              <a:gd name="adj" fmla="val 16667"/>
            </a:avLst>
          </a:prstGeom>
          <a:solidFill>
            <a:srgbClr val="14F195">
              <a:alpha val="20000"/>
            </a:srgbClr>
          </a:solidFill>
          <a:ln w="6350">
            <a:solidFill>
              <a:srgbClr val="14F19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Solana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2423160"/>
            <a:ext cx="73152" cy="105156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251460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9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155448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Authorization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55448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threshold → DIDComm push → swipe to confirm → Session Key on-chain transfer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69280" y="2697480"/>
            <a:ext cx="914400" cy="274320"/>
          </a:xfrm>
          <a:prstGeom prst="rect">
            <a:avLst>
              <a:gd name="adj" fmla="val 16667"/>
            </a:avLst>
          </a:prstGeom>
          <a:solidFill>
            <a:srgbClr val="9945FF">
              <a:alpha val="20000"/>
            </a:srgbClr>
          </a:solidFill>
          <a:ln w="6350">
            <a:solidFill>
              <a:srgbClr val="9945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6928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DIDComm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6675120" y="2697480"/>
            <a:ext cx="914400" cy="274320"/>
          </a:xfrm>
          <a:prstGeom prst="rect">
            <a:avLst>
              <a:gd name="adj" fmla="val 16667"/>
            </a:avLst>
          </a:prstGeom>
          <a:solidFill>
            <a:srgbClr val="9945FF">
              <a:alpha val="20000"/>
            </a:srgbClr>
          </a:solidFill>
          <a:ln w="6350">
            <a:solidFill>
              <a:srgbClr val="9945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Key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7680960" y="2697480"/>
            <a:ext cx="914400" cy="274320"/>
          </a:xfrm>
          <a:prstGeom prst="rect">
            <a:avLst>
              <a:gd name="adj" fmla="val 16667"/>
            </a:avLst>
          </a:prstGeom>
          <a:solidFill>
            <a:srgbClr val="9945FF">
              <a:alpha val="20000"/>
            </a:srgbClr>
          </a:solidFill>
          <a:ln w="6350">
            <a:solidFill>
              <a:srgbClr val="9945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8096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 Auth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7200" y="3657600"/>
            <a:ext cx="73152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374904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000" dirty="0"/>
          </a:p>
        </p:txBody>
      </p:sp>
      <p:sp>
        <p:nvSpPr>
          <p:cNvPr id="29" name="Text 26"/>
          <p:cNvSpPr/>
          <p:nvPr/>
        </p:nvSpPr>
        <p:spPr>
          <a:xfrm>
            <a:off x="155448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MagicBlock High-Freq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55448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Voucher signing → sub-second completion → Sum-Merkle batch settlement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669280" y="3931920"/>
            <a:ext cx="914400" cy="274320"/>
          </a:xfrm>
          <a:prstGeom prst="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669280" y="3931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Voucher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6675120" y="3931920"/>
            <a:ext cx="914400" cy="274320"/>
          </a:xfrm>
          <a:prstGeom prst="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75120" y="3931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&lt;50ms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7680960" y="3931920"/>
            <a:ext cx="914400" cy="274320"/>
          </a:xfrm>
          <a:prstGeom prst="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680960" y="3931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 Settle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USERS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Cases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057400" cy="329184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80160"/>
            <a:ext cx="2057400" cy="45720"/>
          </a:xfrm>
          <a:prstGeom prst="rect">
            <a:avLst/>
          </a:prstGeom>
          <a:solidFill>
            <a:srgbClr val="14F19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5544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Developers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7432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autonomous payment agents for paid APIs, data feeds, and compute with human oversight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68880" y="1280160"/>
            <a:ext cx="2057400" cy="329184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468880" y="1280160"/>
            <a:ext cx="2057400" cy="45720"/>
          </a:xfrm>
          <a:prstGeom prst="rect">
            <a:avLst/>
          </a:prstGeom>
          <a:solidFill>
            <a:srgbClr val="9945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5544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5176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Merchants / Providers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651760" y="27432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x402 Agent payments and consumer QR scan payments with on-chain identity verification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63440" y="1280160"/>
            <a:ext cx="2057400" cy="329184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63440" y="1280160"/>
            <a:ext cx="205740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55448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4632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846320" y="27432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micro-payments at coffee shops, authorize Agent spending, cross-chain USDC deposits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858000" y="1280160"/>
            <a:ext cx="2057400" cy="329184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0" y="1280160"/>
            <a:ext cx="2057400" cy="4572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55448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040880" y="27432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Relayer sponsored mode for gasless onboarding, batch micro-payment settlement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9945F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14F195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Ignite Pay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73152" cy="274320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37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autonomous payments with real-time human authorization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73152" cy="27432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48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DIDComm v2 end-to-end encryption — zero-knowledge relay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73152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560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payment paths — MagicBlock sub-second, gas-free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73152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971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6-layer risk control — blacklist to whitelist coverage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383280"/>
            <a:ext cx="73152" cy="274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3832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CCTP cross-chain USDC — one-tap EVM to Solana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645920" y="3931920"/>
            <a:ext cx="5852160" cy="640080"/>
          </a:xfrm>
          <a:prstGeom prst="rect">
            <a:avLst/>
          </a:prstGeom>
          <a:solidFill>
            <a:srgbClr val="14F19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45920" y="39319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0D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Decentralized Payment Infrastructure for the Agent Economy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Ignite Pay — Decentralized Payment Infrastructure for the Agent Economy</dc:title>
  <dc:subject>PptxGenJS Presentation</dc:subject>
  <dc:creator>Ignite Pay</dc:creator>
  <cp:lastModifiedBy>Ignite Pay</cp:lastModifiedBy>
  <cp:revision>1</cp:revision>
  <dcterms:created xsi:type="dcterms:W3CDTF">2026-05-07T10:13:12Z</dcterms:created>
  <dcterms:modified xsi:type="dcterms:W3CDTF">2026-05-07T10:13:12Z</dcterms:modified>
</cp:coreProperties>
</file>